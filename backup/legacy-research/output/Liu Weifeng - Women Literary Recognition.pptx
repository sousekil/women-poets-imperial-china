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3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12"/>
    <p:restoredTop sz="96438"/>
  </p:normalViewPr>
  <p:slideViewPr>
    <p:cSldViewPr snapToGrid="0">
      <p:cViewPr varScale="1">
        <p:scale>
          <a:sx n="181" d="100"/>
          <a:sy n="181" d="100"/>
        </p:scale>
        <p:origin x="14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Good afternoon everyone. Today I will talk about Managing Professional Risks Through Networks, this is aimed to analysis women's networks in ancient China and how they used social capital for literary achievement.</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31ac8f266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31ac8f266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My research consists of two main parts. The first part is a literature review, focusing on the origins and development of social capital theory, and its empirical studies. I'm particularly interested in comparing how inborn family networks and self-created social networks differently affect professional achievement.</a:t>
            </a:r>
            <a:endParaRPr/>
          </a:p>
          <a:p>
            <a:pPr marL="0" lvl="0" indent="0" algn="l" rtl="0">
              <a:spcBef>
                <a:spcPts val="0"/>
              </a:spcBef>
              <a:spcAft>
                <a:spcPts val="0"/>
              </a:spcAft>
              <a:buNone/>
            </a:pPr>
            <a:endParaRPr/>
          </a:p>
          <a:p>
            <a:pPr marL="0" lvl="0" indent="0" algn="l" rtl="0">
              <a:spcBef>
                <a:spcPts val="0"/>
              </a:spcBef>
              <a:spcAft>
                <a:spcPts val="0"/>
              </a:spcAft>
              <a:buNone/>
            </a:pPr>
            <a:r>
              <a:rPr lang="en"/>
              <a:t>The second part presents a case study from my own small project. Using historical data, I examine how social capital influenced women's literary achievement in ancient China. Through this unique perspective, we can better understand how different types of networks shaped women's success in traditional Chinese society.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31b7e300ce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31b7e300c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 me start with Part I: Social Capital Theory, which forms the theoretical foundation of my research. Here, I want to highlight two key theoretical contributions.</a:t>
            </a:r>
            <a:endParaRPr/>
          </a:p>
          <a:p>
            <a:pPr marL="0" lvl="0" indent="0" algn="l" rtl="0">
              <a:spcBef>
                <a:spcPts val="0"/>
              </a:spcBef>
              <a:spcAft>
                <a:spcPts val="0"/>
              </a:spcAft>
              <a:buNone/>
            </a:pPr>
            <a:endParaRPr/>
          </a:p>
          <a:p>
            <a:pPr marL="0" lvl="0" indent="0" algn="l" rtl="0">
              <a:spcBef>
                <a:spcPts val="0"/>
              </a:spcBef>
              <a:spcAft>
                <a:spcPts val="0"/>
              </a:spcAft>
              <a:buNone/>
            </a:pPr>
            <a:r>
              <a:rPr lang="en"/>
              <a:t>First, Bourdieu shows us that social connections are valuable resources. These connections can help people gain other benefits. He sees family ties as a basic form of social capital that helps maintain social status.</a:t>
            </a:r>
            <a:endParaRPr/>
          </a:p>
          <a:p>
            <a:pPr marL="0" lvl="0" indent="0" algn="l" rtl="0">
              <a:spcBef>
                <a:spcPts val="0"/>
              </a:spcBef>
              <a:spcAft>
                <a:spcPts val="0"/>
              </a:spcAft>
              <a:buNone/>
            </a:pPr>
            <a:endParaRPr/>
          </a:p>
          <a:p>
            <a:pPr marL="0" lvl="0" indent="0" algn="l" rtl="0">
              <a:spcBef>
                <a:spcPts val="0"/>
              </a:spcBef>
              <a:spcAft>
                <a:spcPts val="0"/>
              </a:spcAft>
              <a:buNone/>
            </a:pPr>
            <a:r>
              <a:rPr lang="en"/>
              <a:t>Second, Coleman tells us that close-knit networks work better. When people in a network know each other well, they share resources and information more easily. This was especially true in traditional societies.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31b7e300ce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31b7e300ce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ambria"/>
                <a:ea typeface="Cambria"/>
                <a:cs typeface="Cambria"/>
                <a:sym typeface="Cambria"/>
              </a:rPr>
              <a:t>Now, let's look at key empirical studies about how social capital affects personal achievement. Two classic studies are particularly important. </a:t>
            </a:r>
            <a:endParaRPr>
              <a:latin typeface="Cambria"/>
              <a:ea typeface="Cambria"/>
              <a:cs typeface="Cambria"/>
              <a:sym typeface="Cambria"/>
            </a:endParaRPr>
          </a:p>
          <a:p>
            <a:pPr marL="0" lvl="0" indent="0" algn="l" rtl="0">
              <a:spcBef>
                <a:spcPts val="0"/>
              </a:spcBef>
              <a:spcAft>
                <a:spcPts val="0"/>
              </a:spcAft>
              <a:buNone/>
            </a:pPr>
            <a:endParaRPr>
              <a:latin typeface="Cambria"/>
              <a:ea typeface="Cambria"/>
              <a:cs typeface="Cambria"/>
              <a:sym typeface="Cambria"/>
            </a:endParaRPr>
          </a:p>
          <a:p>
            <a:pPr marL="0" lvl="0" indent="0" algn="l" rtl="0">
              <a:spcBef>
                <a:spcPts val="0"/>
              </a:spcBef>
              <a:spcAft>
                <a:spcPts val="0"/>
              </a:spcAft>
              <a:buNone/>
            </a:pPr>
            <a:r>
              <a:rPr lang="en">
                <a:latin typeface="Cambria"/>
                <a:ea typeface="Cambria"/>
                <a:cs typeface="Cambria"/>
                <a:sym typeface="Cambria"/>
              </a:rPr>
              <a:t>First, G’ranovetter's research in 1973 shows us something interesting - it's often our casual acquaintances, not close friends, who help us find jobs. He studied job seekers in Boston and found that 'weak ties' - people we don't know very well - often share new job information that we can't get from our close friends.</a:t>
            </a:r>
            <a:endParaRPr>
              <a:latin typeface="Cambria"/>
              <a:ea typeface="Cambria"/>
              <a:cs typeface="Cambria"/>
              <a:sym typeface="Cambria"/>
            </a:endParaRPr>
          </a:p>
          <a:p>
            <a:pPr marL="0" lvl="0" indent="0" algn="l" rtl="0">
              <a:spcBef>
                <a:spcPts val="0"/>
              </a:spcBef>
              <a:spcAft>
                <a:spcPts val="0"/>
              </a:spcAft>
              <a:buNone/>
            </a:pPr>
            <a:endParaRPr>
              <a:latin typeface="Cambria"/>
              <a:ea typeface="Cambria"/>
              <a:cs typeface="Cambria"/>
              <a:sym typeface="Cambria"/>
            </a:endParaRPr>
          </a:p>
          <a:p>
            <a:pPr marL="0" lvl="0" indent="0" algn="l" rtl="0">
              <a:spcBef>
                <a:spcPts val="0"/>
              </a:spcBef>
              <a:spcAft>
                <a:spcPts val="0"/>
              </a:spcAft>
              <a:buNone/>
            </a:pPr>
            <a:r>
              <a:rPr lang="en">
                <a:latin typeface="Cambria"/>
                <a:ea typeface="Cambria"/>
                <a:cs typeface="Cambria"/>
                <a:sym typeface="Cambria"/>
              </a:rPr>
              <a:t>Second, Burt's study in 1992 focuses on Structural Holes. He found that people who connect different social groups have a big advantage. Because they can get different kinds of information from various groups and control how information flows between these groups. Think of them as bridges between separate social circles.</a:t>
            </a:r>
            <a:endParaRPr>
              <a:latin typeface="Cambria"/>
              <a:ea typeface="Cambria"/>
              <a:cs typeface="Cambria"/>
              <a:sym typeface="Cambria"/>
            </a:endParaRPr>
          </a:p>
          <a:p>
            <a:pPr marL="0" lvl="0" indent="0" algn="l" rtl="0">
              <a:spcBef>
                <a:spcPts val="0"/>
              </a:spcBef>
              <a:spcAft>
                <a:spcPts val="0"/>
              </a:spcAft>
              <a:buNone/>
            </a:pPr>
            <a:endParaRPr>
              <a:latin typeface="Cambria"/>
              <a:ea typeface="Cambria"/>
              <a:cs typeface="Cambria"/>
              <a:sym typeface="Cambria"/>
            </a:endParaRPr>
          </a:p>
          <a:p>
            <a:pPr marL="0" lvl="0" indent="0" algn="l" rtl="0">
              <a:spcBef>
                <a:spcPts val="0"/>
              </a:spcBef>
              <a:spcAft>
                <a:spcPts val="0"/>
              </a:spcAft>
              <a:buNone/>
            </a:pPr>
            <a:r>
              <a:rPr lang="en">
                <a:latin typeface="Cambria"/>
                <a:ea typeface="Cambria"/>
                <a:cs typeface="Cambria"/>
                <a:sym typeface="Cambria"/>
              </a:rPr>
              <a:t>These studies help us understand how different types of social connections can lead to career success.</a:t>
            </a:r>
            <a:endParaRPr>
              <a:latin typeface="Cambria"/>
              <a:ea typeface="Cambria"/>
              <a:cs typeface="Cambria"/>
              <a:sym typeface="Cambri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31b7e300ce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31b7e300c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Studies in the Chinese context by Lin and Bian show that social capital works differently in China's hierarchical society. Unlike in the West, Chinese people rely more on strong relationships and direct connections (guanxi) to find jobs and access opportunities.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31b7e300ce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31b7e300c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then let's move further back in history to see how these patterns worked in imperial China. </a:t>
            </a:r>
            <a:br>
              <a:rPr lang="en"/>
            </a:br>
            <a:endParaRPr/>
          </a:p>
          <a:p>
            <a:pPr marL="0" lvl="0" indent="0" algn="l" rtl="0">
              <a:spcBef>
                <a:spcPts val="0"/>
              </a:spcBef>
              <a:spcAft>
                <a:spcPts val="0"/>
              </a:spcAft>
              <a:buNone/>
            </a:pPr>
            <a:r>
              <a:rPr lang="en"/>
              <a:t>Historical research using both quantitative and qualitative methods provides strong evidence about family networks' impact in traditional Chinese society. Campbell and Lee's analysis of Qing Dynasty demographic data shows how family structure significantly influenced survival rates and social mobility; Zelin's case study of merchant families reveals how kinship networks enabled business success through generations.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31b7e300ce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31b7e300c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Deng and Wong’s research reveal that families with strong lineage organizations had better access to education and jobs, as shown by data from the late Qing period, and elite/eɪˈliːt/ families deliberately used marriage connections to keep their high social status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31b7e300ce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31b7e300c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When it comes to studying women's social capital in imperial China, researchers have primarily relied on qualitative methods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r>
              <a:rPr lang="en" dirty="0">
                <a:solidFill>
                  <a:srgbClr val="FF0000"/>
                </a:solidFill>
              </a:rPr>
              <a:t>Next page</a:t>
            </a:r>
            <a:endParaRPr dirty="0">
              <a:solidFill>
                <a:srgbClr val="FF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31b7e300ce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31b7e300ce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Through careful analysis of historical documents and records, researchers found that elite women, especially in the Jiangnan area during Ming-Qing times, created their own networks through literary circles, education groups, and artistic communities, showing remarkable creativity in building social connections within the constraints of their time.</a:t>
            </a: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31b7e300c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31b7e300c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This review of existing research reveals two key questions that deserve further investigation. First, while qualitative studies have provided rich insights into women's networks, there remains a critical need to quantify the impact of social capital on women's personal development and achievement. Second, we need to better understand the differential effects between inborn family networks and self-created social networks on women's advancement.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To address these questions, I present a case study that attempts to quantitatively analyze how social capital influenced women's literary recognition in ancient China.</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31ac8f2669_2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31ac8f2669_2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SzPts val="1100"/>
              <a:buNone/>
            </a:pPr>
            <a:r>
              <a:rPr lang="en" sz="1000" dirty="0">
                <a:solidFill>
                  <a:srgbClr val="595959"/>
                </a:solidFill>
              </a:rPr>
              <a:t>In this part of my study, I examine how social capital influenced women's personal development in imperial China, specifically focusing on their literary achievements.</a:t>
            </a:r>
            <a:endParaRPr sz="1000" dirty="0">
              <a:solidFill>
                <a:srgbClr val="595959"/>
              </a:solidFill>
            </a:endParaRPr>
          </a:p>
          <a:p>
            <a:pPr marL="0" lvl="0" indent="0" algn="l" rtl="0">
              <a:lnSpc>
                <a:spcPct val="100000"/>
              </a:lnSpc>
              <a:spcBef>
                <a:spcPts val="1200"/>
              </a:spcBef>
              <a:spcAft>
                <a:spcPts val="0"/>
              </a:spcAft>
              <a:buSzPts val="1100"/>
              <a:buNone/>
            </a:pPr>
            <a:r>
              <a:rPr lang="en" sz="1000" dirty="0">
                <a:solidFill>
                  <a:srgbClr val="595959"/>
                </a:solidFill>
              </a:rPr>
              <a:t>This topic is focusing on: </a:t>
            </a:r>
            <a:endParaRPr sz="1000" dirty="0">
              <a:solidFill>
                <a:srgbClr val="595959"/>
              </a:solidFill>
            </a:endParaRPr>
          </a:p>
          <a:p>
            <a:pPr marL="0" lvl="0" indent="0" algn="l" rtl="0">
              <a:lnSpc>
                <a:spcPct val="100000"/>
              </a:lnSpc>
              <a:spcBef>
                <a:spcPts val="1200"/>
              </a:spcBef>
              <a:spcAft>
                <a:spcPts val="0"/>
              </a:spcAft>
              <a:buSzPts val="1100"/>
              <a:buNone/>
            </a:pPr>
            <a:r>
              <a:rPr lang="en" sz="1000" dirty="0">
                <a:solidFill>
                  <a:srgbClr val="595959"/>
                </a:solidFill>
              </a:rPr>
              <a:t>How social capital shaped women’s access to literary resources and recognition</a:t>
            </a:r>
            <a:endParaRPr sz="1000" dirty="0">
              <a:solidFill>
                <a:srgbClr val="595959"/>
              </a:solidFill>
            </a:endParaRPr>
          </a:p>
          <a:p>
            <a:pPr marL="0" lvl="0" indent="0" algn="l" rtl="0">
              <a:lnSpc>
                <a:spcPct val="100000"/>
              </a:lnSpc>
              <a:spcBef>
                <a:spcPts val="1200"/>
              </a:spcBef>
              <a:spcAft>
                <a:spcPts val="0"/>
              </a:spcAft>
              <a:buSzPts val="1100"/>
              <a:buNone/>
            </a:pPr>
            <a:r>
              <a:rPr lang="en" sz="1000" dirty="0">
                <a:solidFill>
                  <a:srgbClr val="595959"/>
                </a:solidFill>
              </a:rPr>
              <a:t>The role of male gatekeepers in determining women’s literary visibility</a:t>
            </a:r>
            <a:endParaRPr sz="1000" dirty="0">
              <a:solidFill>
                <a:srgbClr val="595959"/>
              </a:solidFill>
            </a:endParaRPr>
          </a:p>
          <a:p>
            <a:pPr marL="0" lvl="0" indent="0" algn="l" rtl="0">
              <a:lnSpc>
                <a:spcPct val="100000"/>
              </a:lnSpc>
              <a:spcBef>
                <a:spcPts val="1200"/>
              </a:spcBef>
              <a:spcAft>
                <a:spcPts val="0"/>
              </a:spcAft>
              <a:buSzPts val="1100"/>
              <a:buNone/>
            </a:pPr>
            <a:endParaRPr sz="1000" dirty="0">
              <a:solidFill>
                <a:srgbClr val="595959"/>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31ac8f2669_2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31ac8f2669_2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The data for this study comes from two main sources. The first is the China Biographical Database (CBDB), which is a comprehensive relational database containing over 600,000 biographical records of historical Chinese figures. It comprises more than 80 data tables that store both personal information and social relationship data between individuals.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The second source is the Women's Writings database, which specifically focuses on ancient Chinese female poets, documenting their biographical information and literary works. My research primarily links these two databases to connect information about female poets with the broader social network data from CBDB.</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31ac8f2669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31ac8f2669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Let me explain how I measure my response variable – women's literary recognition in this study. I look at the types of publications where their works appear, with a particular focus on whether they have their own individual collections.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During this period, women's poetry could be published in two main ways: one is in anthologies alongside other authors' works (like </a:t>
            </a:r>
            <a:r>
              <a:rPr lang="en" dirty="0" err="1"/>
              <a:t>Zongji</a:t>
            </a:r>
            <a:r>
              <a:rPr lang="en" dirty="0"/>
              <a:t> [Anthology] </a:t>
            </a:r>
            <a:r>
              <a:rPr lang="en" dirty="0" err="1"/>
              <a:t>总集</a:t>
            </a:r>
            <a:r>
              <a:rPr lang="en" dirty="0"/>
              <a:t> and Heke [Joint Publication] </a:t>
            </a:r>
            <a:r>
              <a:rPr lang="en" dirty="0" err="1"/>
              <a:t>合刻</a:t>
            </a:r>
            <a:r>
              <a:rPr lang="en" dirty="0"/>
              <a:t>), the other is in their own individual collections (</a:t>
            </a:r>
            <a:r>
              <a:rPr lang="en" dirty="0" err="1"/>
              <a:t>Bieji</a:t>
            </a:r>
            <a:r>
              <a:rPr lang="en" dirty="0"/>
              <a:t> </a:t>
            </a:r>
            <a:r>
              <a:rPr lang="en" dirty="0" err="1"/>
              <a:t>别集</a:t>
            </a:r>
            <a:r>
              <a:rPr lang="en" dirty="0"/>
              <a:t>). Having an individual collection was especially significant - it meant their work was considered valuable enough to stand alone in a dedicated volume.</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That's why I use the publication of individual collections as my measure of literary recognition. Looking at the data shown here, we can see that while most women poets were included in various anthologies, only 27% of them achieved the distinction of having their own individual collections.</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31ac8f2669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331ac8f2669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My research focuses on how social capital influenced women's literary recognition in imperial China. Based on previous studies in both Chinese and Western contexts, we know that female writers historically faced significant social and economic constraints. As a result, the support of their male relatives and friends was crucial to their ability to produce work.</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Look at the analysis structure shown here, I examine two main categories of variables: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First, Social Capital, which includes: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Kinship networks (which is the inborn family networks)</a:t>
            </a:r>
            <a:endParaRPr dirty="0"/>
          </a:p>
          <a:p>
            <a:pPr marL="0" lvl="0" indent="0" algn="l" rtl="0">
              <a:lnSpc>
                <a:spcPct val="100000"/>
              </a:lnSpc>
              <a:spcBef>
                <a:spcPts val="0"/>
              </a:spcBef>
              <a:spcAft>
                <a:spcPts val="0"/>
              </a:spcAft>
              <a:buSzPts val="1100"/>
              <a:buNone/>
            </a:pPr>
            <a:r>
              <a:rPr lang="en" dirty="0"/>
              <a:t>Social relations (academic connections, political ties, and literary circles)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There are also other predictors, ill introduce them later.</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1ac8f2669_2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31ac8f2669_2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Let me show how limited women's social capital was in ancient China. I'll use the example of Li Qingzhao, a famous female poet, and her husband Zhao Mingcheng.</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 left plot shows their mentions in Google Books. The red line represents Li Qingzhao, and the blue line represents Zhao Mingcheng. As we can see, Li is much more famous than her husband in modern times.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But the right plot tells a different story. It shows their social networks during their lifetime. The upper section is Li's network, and the lower section is Zhao's. Although Li is very famous in modern times, her social connections were far more limited than her husband's connections.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This case perfectly shows how even the most talented women in ancient China faced severe social constraints.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31ac8f2669_2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31ac8f2669_2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Now, let me explain how I measure social capital in my research. I focus on two main categories of relationships: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First, Kinship Networks:</a:t>
            </a:r>
            <a:endParaRPr dirty="0"/>
          </a:p>
          <a:p>
            <a:pPr marL="0" lvl="0" indent="0" algn="l" rtl="0">
              <a:lnSpc>
                <a:spcPct val="100000"/>
              </a:lnSpc>
              <a:spcBef>
                <a:spcPts val="0"/>
              </a:spcBef>
              <a:spcAft>
                <a:spcPts val="0"/>
              </a:spcAft>
              <a:buSzPts val="1100"/>
              <a:buNone/>
            </a:pPr>
            <a:endParaRPr dirty="0"/>
          </a:p>
          <a:p>
            <a:pPr marL="457200" lvl="0" indent="-298450" algn="l" rtl="0">
              <a:lnSpc>
                <a:spcPct val="100000"/>
              </a:lnSpc>
              <a:spcBef>
                <a:spcPts val="0"/>
              </a:spcBef>
              <a:spcAft>
                <a:spcPts val="0"/>
              </a:spcAft>
              <a:buSzPts val="1100"/>
              <a:buChar char="●"/>
            </a:pPr>
            <a:r>
              <a:rPr lang="en" dirty="0"/>
              <a:t>These are immediate family connections</a:t>
            </a:r>
            <a:endParaRPr dirty="0"/>
          </a:p>
          <a:p>
            <a:pPr marL="457200" lvl="0" indent="-298450" algn="l" rtl="0">
              <a:lnSpc>
                <a:spcPct val="100000"/>
              </a:lnSpc>
              <a:spcBef>
                <a:spcPts val="0"/>
              </a:spcBef>
              <a:spcAft>
                <a:spcPts val="0"/>
              </a:spcAft>
              <a:buSzPts val="1100"/>
              <a:buChar char="●"/>
            </a:pPr>
            <a:r>
              <a:rPr lang="en" dirty="0"/>
              <a:t>Including parents, siblings, spouse, and children</a:t>
            </a:r>
            <a:endParaRPr dirty="0"/>
          </a:p>
          <a:p>
            <a:pPr marL="457200" lvl="0" indent="-298450" algn="l" rtl="0">
              <a:lnSpc>
                <a:spcPct val="100000"/>
              </a:lnSpc>
              <a:spcBef>
                <a:spcPts val="0"/>
              </a:spcBef>
              <a:spcAft>
                <a:spcPts val="0"/>
              </a:spcAft>
              <a:buSzPts val="1100"/>
              <a:buChar char="●"/>
            </a:pPr>
            <a:r>
              <a:rPr lang="en" dirty="0"/>
              <a:t>Also covering in-laws and close relatives</a:t>
            </a:r>
            <a:endParaRPr dirty="0"/>
          </a:p>
          <a:p>
            <a:pPr marL="457200" lvl="0" indent="0" algn="l" rtl="0">
              <a:lnSpc>
                <a:spcPct val="100000"/>
              </a:lnSpc>
              <a:spcBef>
                <a:spcPts val="0"/>
              </a:spcBef>
              <a:spcAft>
                <a:spcPts val="0"/>
              </a:spcAft>
              <a:buNone/>
            </a:pPr>
            <a:endParaRPr dirty="0"/>
          </a:p>
          <a:p>
            <a:pPr marL="0" lvl="0" indent="0" algn="l" rtl="0">
              <a:lnSpc>
                <a:spcPct val="100000"/>
              </a:lnSpc>
              <a:spcBef>
                <a:spcPts val="0"/>
              </a:spcBef>
              <a:spcAft>
                <a:spcPts val="0"/>
              </a:spcAft>
              <a:buSzPts val="1100"/>
              <a:buNone/>
            </a:pPr>
            <a:r>
              <a:rPr lang="en" dirty="0"/>
              <a:t>Second, Social Relations:</a:t>
            </a:r>
            <a:endParaRPr dirty="0"/>
          </a:p>
          <a:p>
            <a:pPr marL="0" lvl="0" indent="0" algn="l" rtl="0">
              <a:lnSpc>
                <a:spcPct val="100000"/>
              </a:lnSpc>
              <a:spcBef>
                <a:spcPts val="0"/>
              </a:spcBef>
              <a:spcAft>
                <a:spcPts val="0"/>
              </a:spcAft>
              <a:buSzPts val="1100"/>
              <a:buNone/>
            </a:pPr>
            <a:endParaRPr dirty="0"/>
          </a:p>
          <a:p>
            <a:pPr marL="457200" lvl="0" indent="-298450" algn="l" rtl="0">
              <a:lnSpc>
                <a:spcPct val="100000"/>
              </a:lnSpc>
              <a:spcBef>
                <a:spcPts val="0"/>
              </a:spcBef>
              <a:spcAft>
                <a:spcPts val="0"/>
              </a:spcAft>
              <a:buSzPts val="1100"/>
              <a:buChar char="●"/>
            </a:pPr>
            <a:r>
              <a:rPr lang="en" dirty="0"/>
              <a:t>These extend beyond family ties</a:t>
            </a:r>
            <a:endParaRPr dirty="0"/>
          </a:p>
          <a:p>
            <a:pPr marL="457200" lvl="0" indent="-298450" algn="l" rtl="0">
              <a:lnSpc>
                <a:spcPct val="100000"/>
              </a:lnSpc>
              <a:spcBef>
                <a:spcPts val="0"/>
              </a:spcBef>
              <a:spcAft>
                <a:spcPts val="0"/>
              </a:spcAft>
              <a:buSzPts val="1100"/>
              <a:buChar char="●"/>
            </a:pPr>
            <a:r>
              <a:rPr lang="en" dirty="0"/>
              <a:t>Including ten types of relationships, such as:</a:t>
            </a:r>
            <a:endParaRPr dirty="0"/>
          </a:p>
          <a:p>
            <a:pPr marL="914400" lvl="1" indent="-298450" algn="l" rtl="0">
              <a:lnSpc>
                <a:spcPct val="100000"/>
              </a:lnSpc>
              <a:spcBef>
                <a:spcPts val="0"/>
              </a:spcBef>
              <a:spcAft>
                <a:spcPts val="0"/>
              </a:spcAft>
              <a:buSzPts val="1100"/>
              <a:buChar char="○"/>
            </a:pPr>
            <a:r>
              <a:rPr lang="en" dirty="0"/>
              <a:t>Academic connections (like teacher-student relationships)</a:t>
            </a:r>
            <a:endParaRPr dirty="0"/>
          </a:p>
          <a:p>
            <a:pPr marL="914400" lvl="1" indent="-298450" algn="l" rtl="0">
              <a:lnSpc>
                <a:spcPct val="100000"/>
              </a:lnSpc>
              <a:spcBef>
                <a:spcPts val="0"/>
              </a:spcBef>
              <a:spcAft>
                <a:spcPts val="0"/>
              </a:spcAft>
              <a:buSzPts val="1100"/>
              <a:buChar char="○"/>
            </a:pPr>
            <a:r>
              <a:rPr lang="en" dirty="0"/>
              <a:t>Literary collaborations</a:t>
            </a:r>
            <a:endParaRPr dirty="0"/>
          </a:p>
          <a:p>
            <a:pPr marL="914400" lvl="1" indent="-298450" algn="l" rtl="0">
              <a:lnSpc>
                <a:spcPct val="100000"/>
              </a:lnSpc>
              <a:spcBef>
                <a:spcPts val="0"/>
              </a:spcBef>
              <a:spcAft>
                <a:spcPts val="0"/>
              </a:spcAft>
              <a:buSzPts val="1100"/>
              <a:buChar char="○"/>
            </a:pPr>
            <a:r>
              <a:rPr lang="en" dirty="0"/>
              <a:t>Political associations</a:t>
            </a:r>
            <a:endParaRPr dirty="0"/>
          </a:p>
          <a:p>
            <a:pPr marL="914400" lvl="1" indent="-298450" algn="l" rtl="0">
              <a:lnSpc>
                <a:spcPct val="100000"/>
              </a:lnSpc>
              <a:spcBef>
                <a:spcPts val="0"/>
              </a:spcBef>
              <a:spcAft>
                <a:spcPts val="0"/>
              </a:spcAft>
              <a:buSzPts val="1100"/>
              <a:buChar char="○"/>
            </a:pPr>
            <a:r>
              <a:rPr lang="en" dirty="0"/>
              <a:t>Friendships</a:t>
            </a:r>
            <a:endParaRPr dirty="0"/>
          </a:p>
          <a:p>
            <a:pPr marL="914400" lvl="1" indent="-298450" algn="l" rtl="0">
              <a:lnSpc>
                <a:spcPct val="100000"/>
              </a:lnSpc>
              <a:spcBef>
                <a:spcPts val="0"/>
              </a:spcBef>
              <a:spcAft>
                <a:spcPts val="0"/>
              </a:spcAft>
              <a:buSzPts val="1100"/>
              <a:buChar char="○"/>
            </a:pPr>
            <a:r>
              <a:rPr lang="en" dirty="0"/>
              <a:t>And other social ties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31ac8f2669_2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31ac8f2669_2_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Let me show you an overview of women poets' social capital based on our data.</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On the left is a network adjacency matrix. The x-axis shows the women poets, while the y-axis shows their connections to different individuals. Each dot represents a connection. This plot shows that kinship relations show much richer connections than social networks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 right plot compares the distribution of connections between two groups - poets with and without individual collections. It's divided by relationship types. It shows that regardless of the relationship types, women who have individual collections have higher mean connection values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31ac8f2669_2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331ac8f2669_2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Besides social capital, I also controlled for other factors that may impact the response.</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In terms of spatial factors, I controlled for the administrative provinces of the women poets' birthplaces. As shown in the plot on the right, some provinces had significantly more women poets than others, which can be attributed to the structural mechanisms within those regions.</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r>
              <a:rPr lang="en"/>
              <a:t>Additionally, I controlled for the local education level. This was approached by examining the number of successful candidates in the imperial examination (jinshi) in the area around the time of the poets' births. A higher number of jinshi can be interpreted as an indication of more advanced </a:t>
            </a:r>
            <a:r>
              <a:rPr lang="en">
                <a:solidFill>
                  <a:schemeClr val="dk1"/>
                </a:solidFill>
              </a:rPr>
              <a:t>local </a:t>
            </a:r>
            <a:r>
              <a:rPr lang="en"/>
              <a:t>education level in that region.</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1ac8f2669_2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331ac8f2669_2_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In the database, the distribution of women poets spans different historical periods from the Eastern Han to the Qing Dynasty. Different dynasties may have varying influences, so the dynasty is also taken into account as an important variable.</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31ac8f2669_2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331ac8f2669_2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 also controlled for women’s social status by assessing their families' social and economic standing. This includes whether family members held official positions or were distinguished writers or historians.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31ac8f2669_2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31ac8f2669_2_1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Let’s return to my analysis structure. I will measure the impact of these variables on women’s literary recognition.</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Since the number of predictors is much greater than the number of observations, I chose Lasso as my main analysis models.</a:t>
            </a:r>
            <a:endParaRPr>
              <a:solidFill>
                <a:schemeClr val="dk1"/>
              </a:solidFill>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I break down my analysis into three steps to show how different relationships shaped women's literary success.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31ac8f2669_2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331ac8f2669_2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Let's look at my first analysis step. I used a Lasso model where each relationship is coded as a binary variable - either 0 or 1. This helps us see the individual effects of each connection.</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The plot on the right shows what we found:</a:t>
            </a:r>
            <a:endParaRPr dirty="0"/>
          </a:p>
          <a:p>
            <a:pPr marL="0" lvl="0" indent="0" algn="l" rtl="0">
              <a:lnSpc>
                <a:spcPct val="100000"/>
              </a:lnSpc>
              <a:spcBef>
                <a:spcPts val="0"/>
              </a:spcBef>
              <a:spcAft>
                <a:spcPts val="0"/>
              </a:spcAft>
              <a:buSzPts val="1100"/>
              <a:buNone/>
            </a:pPr>
            <a:endParaRPr dirty="0"/>
          </a:p>
          <a:p>
            <a:pPr marL="457200" lvl="0" indent="-298450" algn="l" rtl="0">
              <a:lnSpc>
                <a:spcPct val="100000"/>
              </a:lnSpc>
              <a:spcBef>
                <a:spcPts val="0"/>
              </a:spcBef>
              <a:spcAft>
                <a:spcPts val="0"/>
              </a:spcAft>
              <a:buSzPts val="1100"/>
              <a:buChar char="●"/>
            </a:pPr>
            <a:r>
              <a:rPr lang="en" dirty="0"/>
              <a:t>Both kinship and social ties helped women get literary recognition</a:t>
            </a:r>
            <a:endParaRPr dirty="0"/>
          </a:p>
          <a:p>
            <a:pPr marL="457200" lvl="0" indent="-298450" algn="l" rtl="0">
              <a:lnSpc>
                <a:spcPct val="100000"/>
              </a:lnSpc>
              <a:spcBef>
                <a:spcPts val="0"/>
              </a:spcBef>
              <a:spcAft>
                <a:spcPts val="0"/>
              </a:spcAft>
              <a:buSzPts val="1100"/>
              <a:buChar char="●"/>
            </a:pPr>
            <a:r>
              <a:rPr lang="en" dirty="0"/>
              <a:t>But here's the interesting part: family connections (kinship) had a much stronger mean impact than social relationships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31ac8f2669_2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331ac8f2669_2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For my second step, I changed how I measured connections. Instead of looking at individual relationships, I used a network measure called 'degree' For each woman poet, I calculated her total number of connections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The results show an interesting result: Social connections (0.223) had twice the impact of family ties (0.102)</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None/>
            </a:pPr>
            <a:r>
              <a:rPr lang="en" dirty="0"/>
              <a:t>This reveals something crucial: when we look at the bigger picture of network effects, social connections proved more powerful than family ties.</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31ac8f2669_2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331ac8f2669_2_1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However, the coefficients from step two don't tell us the true network effects. For the final step, I used Double Lasso to identify the actual causal effects.</a:t>
            </a:r>
            <a:endParaRPr dirty="0"/>
          </a:p>
          <a:p>
            <a:pPr marL="0" lvl="0" indent="0" algn="l" rtl="0">
              <a:lnSpc>
                <a:spcPct val="100000"/>
              </a:lnSpc>
              <a:spcBef>
                <a:spcPts val="0"/>
              </a:spcBef>
              <a:spcAft>
                <a:spcPts val="0"/>
              </a:spcAft>
              <a:buSzPts val="1100"/>
              <a:buNone/>
            </a:pPr>
            <a:endParaRPr dirty="0"/>
          </a:p>
          <a:p>
            <a:pPr marL="457200" lvl="0" indent="-298450" algn="l" rtl="0">
              <a:lnSpc>
                <a:spcPct val="100000"/>
              </a:lnSpc>
              <a:spcBef>
                <a:spcPts val="0"/>
              </a:spcBef>
              <a:spcAft>
                <a:spcPts val="0"/>
              </a:spcAft>
              <a:buSzPts val="1100"/>
              <a:buChar char="●"/>
            </a:pPr>
            <a:r>
              <a:rPr lang="en" dirty="0"/>
              <a:t>First, I separated out the influence of all other variables on both social and kinship degrees</a:t>
            </a:r>
            <a:endParaRPr dirty="0"/>
          </a:p>
          <a:p>
            <a:pPr marL="457200" lvl="0" indent="-298450" algn="l" rtl="0">
              <a:lnSpc>
                <a:spcPct val="100000"/>
              </a:lnSpc>
              <a:spcBef>
                <a:spcPts val="0"/>
              </a:spcBef>
              <a:spcAft>
                <a:spcPts val="0"/>
              </a:spcAft>
              <a:buSzPts val="1100"/>
              <a:buChar char="●"/>
            </a:pPr>
            <a:r>
              <a:rPr lang="en" dirty="0"/>
              <a:t>Then, I put these adjusted measures back into a Lasso model</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This helps us get a clearer picture of the true network effects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The results confirm and strengthen our earlier findings:</a:t>
            </a:r>
            <a:endParaRPr dirty="0"/>
          </a:p>
          <a:p>
            <a:pPr marL="0" lvl="0" indent="0" algn="l" rtl="0">
              <a:lnSpc>
                <a:spcPct val="100000"/>
              </a:lnSpc>
              <a:spcBef>
                <a:spcPts val="0"/>
              </a:spcBef>
              <a:spcAft>
                <a:spcPts val="0"/>
              </a:spcAft>
              <a:buSzPts val="1100"/>
              <a:buNone/>
            </a:pPr>
            <a:endParaRPr dirty="0"/>
          </a:p>
          <a:p>
            <a:pPr marL="457200" lvl="0" indent="-298450" algn="l" rtl="0">
              <a:lnSpc>
                <a:spcPct val="100000"/>
              </a:lnSpc>
              <a:spcBef>
                <a:spcPts val="0"/>
              </a:spcBef>
              <a:spcAft>
                <a:spcPts val="0"/>
              </a:spcAft>
              <a:buSzPts val="1100"/>
              <a:buChar char="●"/>
            </a:pPr>
            <a:r>
              <a:rPr lang="en" dirty="0"/>
              <a:t>Social connections show a strong and statistically significant effect (0.287)</a:t>
            </a:r>
            <a:endParaRPr dirty="0"/>
          </a:p>
          <a:p>
            <a:pPr marL="457200" lvl="0" indent="-298450" algn="l" rtl="0">
              <a:lnSpc>
                <a:spcPct val="100000"/>
              </a:lnSpc>
              <a:spcBef>
                <a:spcPts val="0"/>
              </a:spcBef>
              <a:spcAft>
                <a:spcPts val="0"/>
              </a:spcAft>
              <a:buSzPts val="1100"/>
              <a:buChar char="●"/>
            </a:pPr>
            <a:r>
              <a:rPr lang="en" dirty="0"/>
              <a:t>In contrast, family ties is not statistically significant</a:t>
            </a:r>
            <a:endParaRPr dirty="0"/>
          </a:p>
          <a:p>
            <a:pPr marL="0" lvl="0" indent="0" algn="l" rtl="0">
              <a:lnSpc>
                <a:spcPct val="100000"/>
              </a:lnSpc>
              <a:spcBef>
                <a:spcPts val="0"/>
              </a:spcBef>
              <a:spcAft>
                <a:spcPts val="0"/>
              </a:spcAft>
              <a:buNone/>
            </a:pPr>
            <a:endParaRPr dirty="0"/>
          </a:p>
          <a:p>
            <a:pPr marL="0" lvl="0" indent="0" algn="l" rtl="0">
              <a:lnSpc>
                <a:spcPct val="100000"/>
              </a:lnSpc>
              <a:spcBef>
                <a:spcPts val="0"/>
              </a:spcBef>
              <a:spcAft>
                <a:spcPts val="0"/>
              </a:spcAft>
              <a:buNone/>
            </a:pPr>
            <a:r>
              <a:rPr lang="en" dirty="0"/>
              <a:t>This gives us more confidence in our key finding: social networks were indeed more crucial for women's success than family connections.</a:t>
            </a:r>
          </a:p>
          <a:p>
            <a:pPr marL="0" lvl="0" indent="0" algn="l" rtl="0">
              <a:lnSpc>
                <a:spcPct val="100000"/>
              </a:lnSpc>
              <a:spcBef>
                <a:spcPts val="0"/>
              </a:spcBef>
              <a:spcAft>
                <a:spcPts val="0"/>
              </a:spcAft>
              <a:buNone/>
            </a:pPr>
            <a:endParaRPr lang="en" dirty="0"/>
          </a:p>
          <a:p>
            <a:pPr marL="0" lvl="0" indent="0" algn="l" rtl="0">
              <a:lnSpc>
                <a:spcPct val="100000"/>
              </a:lnSpc>
              <a:spcBef>
                <a:spcPts val="0"/>
              </a:spcBef>
              <a:spcAft>
                <a:spcPts val="0"/>
              </a:spcAft>
              <a:buNone/>
            </a:pPr>
            <a:endParaRPr lang="en" dirty="0"/>
          </a:p>
          <a:p>
            <a:pPr marL="0" lvl="0" indent="0" algn="l" rtl="0">
              <a:lnSpc>
                <a:spcPct val="100000"/>
              </a:lnSpc>
              <a:spcBef>
                <a:spcPts val="0"/>
              </a:spcBef>
              <a:spcAft>
                <a:spcPts val="0"/>
              </a:spcAft>
              <a:buNone/>
            </a:pPr>
            <a:r>
              <a:rPr lang="en" dirty="0"/>
              <a:t>---------</a:t>
            </a:r>
          </a:p>
          <a:p>
            <a:pPr marL="0" lvl="0" indent="0" algn="l" rtl="0">
              <a:lnSpc>
                <a:spcPct val="100000"/>
              </a:lnSpc>
              <a:spcBef>
                <a:spcPts val="0"/>
              </a:spcBef>
              <a:spcAft>
                <a:spcPts val="0"/>
              </a:spcAft>
              <a:buNone/>
            </a:pPr>
            <a:r>
              <a:rPr lang="en" dirty="0"/>
              <a:t>---------</a:t>
            </a:r>
          </a:p>
          <a:p>
            <a:pPr marL="0" lvl="0" indent="0" algn="l" rtl="0">
              <a:lnSpc>
                <a:spcPct val="100000"/>
              </a:lnSpc>
              <a:spcBef>
                <a:spcPts val="0"/>
              </a:spcBef>
              <a:spcAft>
                <a:spcPts val="0"/>
              </a:spcAft>
              <a:buNone/>
            </a:pPr>
            <a:endParaRPr lang="en" dirty="0"/>
          </a:p>
          <a:p>
            <a:pPr marL="0" lvl="0" indent="0" algn="l" rtl="0">
              <a:lnSpc>
                <a:spcPct val="100000"/>
              </a:lnSpc>
              <a:spcBef>
                <a:spcPts val="0"/>
              </a:spcBef>
              <a:spcAft>
                <a:spcPts val="0"/>
              </a:spcAft>
              <a:buSzPts val="1100"/>
              <a:buNone/>
            </a:pPr>
            <a:r>
              <a:rPr lang="en-US" dirty="0"/>
              <a:t>This is a good question. Let me explain from my perspective: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First, the main difference is simple: you are born into your family network - you don't choose it. But social networks are different. You need to build them yourself.</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Second, yes, in ancient </a:t>
            </a:r>
            <a:r>
              <a:rPr lang="en-US" dirty="0" err="1"/>
              <a:t>china</a:t>
            </a:r>
            <a:r>
              <a:rPr lang="en-US" dirty="0"/>
              <a:t>, family ties might have helped women make social connections. But my research has considered it. I used double lasso method to separate the effects. What we found was clear: even after we removed all family-related effects, women's social connections still had a stronger positive impact on their success.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I hope this helps explain.</a:t>
            </a:r>
          </a:p>
          <a:p>
            <a:pPr marL="0" lvl="0" indent="0" algn="l" rtl="0">
              <a:lnSpc>
                <a:spcPct val="100000"/>
              </a:lnSpc>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31ac8f2669_2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g331ac8f2669_2_1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Let me share our key finding.</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What really mattered for women's literary recognition? Our analysis shows that social networks made the real difference. While social connections had a significant positive effect on women's literary success, family ties did not show significant impact.</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This is particularly interesting because in traditional Chinese society, women were typically thought to rely on male family members for success. This study shows that it was actually their broader social connections, not family ties, that proved crucial for their literary recognition.</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31ac8f2669_2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Finally, I'd like to share some feeling during this research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While collecting data, I discovered many women didn't have their names, they were recorded only as 'Zhou Shi' or 'Li Shi' - which means 'one who married into the Zhou or Li family. They created excellent poetry, but they didn’t leave their own names in history.</a:t>
            </a:r>
            <a:endParaRPr dirty="0"/>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dirty="0">
                <a:solidFill>
                  <a:schemeClr val="dk1"/>
                </a:solidFill>
              </a:rPr>
              <a:t>However</a:t>
            </a:r>
            <a:r>
              <a:rPr lang="en" dirty="0"/>
              <a:t> even in an era when women's value was entirely overlooked, they still made every effort to record their lives, emotions, and aspirations, even though most of them left behind no names. </a:t>
            </a:r>
          </a:p>
          <a:p>
            <a:pPr marL="0" lvl="0" indent="0" algn="l" rtl="0">
              <a:spcBef>
                <a:spcPts val="0"/>
              </a:spcBef>
              <a:spcAft>
                <a:spcPts val="0"/>
              </a:spcAft>
              <a:buNone/>
            </a:pPr>
            <a:r>
              <a:rPr lang="en" dirty="0"/>
              <a:t>And The evidence for me it’s the data they left behind spans centuries, reminding us that a woman's worth must be created by herself and not defined by her family.</a:t>
            </a:r>
            <a:endParaRPr dirty="0"/>
          </a:p>
        </p:txBody>
      </p:sp>
      <p:sp>
        <p:nvSpPr>
          <p:cNvPr id="317" name="Google Shape;317;g331ac8f2669_2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1fa18fe3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31fa18fe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31fa18fe3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31fa18fe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31ac8f2669_2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331ac8f2669_2_1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This is a good question. Let me explain from my perspective:</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First, the main difference is simple: you are born into your family network - you don't choose it. But social networks are different. You need to build them yourself.</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Second, yes, in ancient </a:t>
            </a:r>
            <a:r>
              <a:rPr lang="en" dirty="0" err="1"/>
              <a:t>china</a:t>
            </a:r>
            <a:r>
              <a:rPr lang="en" dirty="0"/>
              <a:t>, family ties might have helped women make social connections. But my research has considered it. I used double lasso method to separate the effects. What we found was clear: even after we removed all family-related effects, women's social connections still had a stronger positive impact on their success.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 dirty="0"/>
              <a:t>I hope this helps explain.</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Font typeface="Cambria"/>
              <a:buNone/>
              <a:defRPr sz="5200">
                <a:latin typeface="Cambria"/>
                <a:ea typeface="Cambria"/>
                <a:cs typeface="Cambria"/>
                <a:sym typeface="Cambria"/>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Font typeface="Cambria"/>
              <a:buNone/>
              <a:defRPr sz="2800">
                <a:latin typeface="Cambria"/>
                <a:ea typeface="Cambria"/>
                <a:cs typeface="Cambria"/>
                <a:sym typeface="Cambri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Font typeface="Cambria"/>
              <a:buNone/>
              <a:defRPr>
                <a:latin typeface="Cambria"/>
                <a:ea typeface="Cambria"/>
                <a:cs typeface="Cambria"/>
                <a:sym typeface="Cambria"/>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Font typeface="Cambria"/>
              <a:buChar char="●"/>
              <a:defRPr>
                <a:latin typeface="Cambria"/>
                <a:ea typeface="Cambria"/>
                <a:cs typeface="Cambria"/>
                <a:sym typeface="Cambria"/>
              </a:defRPr>
            </a:lvl1pPr>
            <a:lvl2pPr marL="914400" lvl="1" indent="-317500" algn="l">
              <a:lnSpc>
                <a:spcPct val="115000"/>
              </a:lnSpc>
              <a:spcBef>
                <a:spcPts val="0"/>
              </a:spcBef>
              <a:spcAft>
                <a:spcPts val="0"/>
              </a:spcAft>
              <a:buSzPts val="1400"/>
              <a:buFont typeface="Cambria"/>
              <a:buChar char="○"/>
              <a:defRPr>
                <a:latin typeface="Cambria"/>
                <a:ea typeface="Cambria"/>
                <a:cs typeface="Cambria"/>
                <a:sym typeface="Cambria"/>
              </a:defRPr>
            </a:lvl2pPr>
            <a:lvl3pPr marL="1371600" lvl="2" indent="-317500" algn="l">
              <a:lnSpc>
                <a:spcPct val="115000"/>
              </a:lnSpc>
              <a:spcBef>
                <a:spcPts val="0"/>
              </a:spcBef>
              <a:spcAft>
                <a:spcPts val="0"/>
              </a:spcAft>
              <a:buSzPts val="1400"/>
              <a:buFont typeface="Cambria"/>
              <a:buChar char="■"/>
              <a:defRPr>
                <a:latin typeface="Cambria"/>
                <a:ea typeface="Cambria"/>
                <a:cs typeface="Cambria"/>
                <a:sym typeface="Cambria"/>
              </a:defRPr>
            </a:lvl3pPr>
            <a:lvl4pPr marL="1828800" lvl="3" indent="-317500" algn="l">
              <a:lnSpc>
                <a:spcPct val="115000"/>
              </a:lnSpc>
              <a:spcBef>
                <a:spcPts val="0"/>
              </a:spcBef>
              <a:spcAft>
                <a:spcPts val="0"/>
              </a:spcAft>
              <a:buSzPts val="1400"/>
              <a:buFont typeface="Cambria"/>
              <a:buChar char="●"/>
              <a:defRPr>
                <a:latin typeface="Cambria"/>
                <a:ea typeface="Cambria"/>
                <a:cs typeface="Cambria"/>
                <a:sym typeface="Cambria"/>
              </a:defRPr>
            </a:lvl4pPr>
            <a:lvl5pPr marL="2286000" lvl="4" indent="-317500" algn="l">
              <a:lnSpc>
                <a:spcPct val="115000"/>
              </a:lnSpc>
              <a:spcBef>
                <a:spcPts val="0"/>
              </a:spcBef>
              <a:spcAft>
                <a:spcPts val="0"/>
              </a:spcAft>
              <a:buSzPts val="1400"/>
              <a:buFont typeface="Cambria"/>
              <a:buChar char="○"/>
              <a:defRPr>
                <a:latin typeface="Cambria"/>
                <a:ea typeface="Cambria"/>
                <a:cs typeface="Cambria"/>
                <a:sym typeface="Cambria"/>
              </a:defRPr>
            </a:lvl5pPr>
            <a:lvl6pPr marL="2743200" lvl="5" indent="-317500" algn="l">
              <a:lnSpc>
                <a:spcPct val="115000"/>
              </a:lnSpc>
              <a:spcBef>
                <a:spcPts val="0"/>
              </a:spcBef>
              <a:spcAft>
                <a:spcPts val="0"/>
              </a:spcAft>
              <a:buSzPts val="1400"/>
              <a:buFont typeface="Cambria"/>
              <a:buChar char="■"/>
              <a:defRPr>
                <a:latin typeface="Cambria"/>
                <a:ea typeface="Cambria"/>
                <a:cs typeface="Cambria"/>
                <a:sym typeface="Cambria"/>
              </a:defRPr>
            </a:lvl6pPr>
            <a:lvl7pPr marL="3200400" lvl="6" indent="-317500" algn="l">
              <a:lnSpc>
                <a:spcPct val="115000"/>
              </a:lnSpc>
              <a:spcBef>
                <a:spcPts val="0"/>
              </a:spcBef>
              <a:spcAft>
                <a:spcPts val="0"/>
              </a:spcAft>
              <a:buSzPts val="1400"/>
              <a:buFont typeface="Cambria"/>
              <a:buChar char="●"/>
              <a:defRPr>
                <a:latin typeface="Cambria"/>
                <a:ea typeface="Cambria"/>
                <a:cs typeface="Cambria"/>
                <a:sym typeface="Cambria"/>
              </a:defRPr>
            </a:lvl7pPr>
            <a:lvl8pPr marL="3657600" lvl="7" indent="-317500" algn="l">
              <a:lnSpc>
                <a:spcPct val="115000"/>
              </a:lnSpc>
              <a:spcBef>
                <a:spcPts val="0"/>
              </a:spcBef>
              <a:spcAft>
                <a:spcPts val="0"/>
              </a:spcAft>
              <a:buSzPts val="1400"/>
              <a:buFont typeface="Cambria"/>
              <a:buChar char="○"/>
              <a:defRPr>
                <a:latin typeface="Cambria"/>
                <a:ea typeface="Cambria"/>
                <a:cs typeface="Cambria"/>
                <a:sym typeface="Cambria"/>
              </a:defRPr>
            </a:lvl8pPr>
            <a:lvl9pPr marL="4114800" lvl="8" indent="-317500" algn="l">
              <a:lnSpc>
                <a:spcPct val="115000"/>
              </a:lnSpc>
              <a:spcBef>
                <a:spcPts val="0"/>
              </a:spcBef>
              <a:spcAft>
                <a:spcPts val="0"/>
              </a:spcAft>
              <a:buSzPts val="1400"/>
              <a:buFont typeface="Cambria"/>
              <a:buChar char="■"/>
              <a:defRPr>
                <a:latin typeface="Cambria"/>
                <a:ea typeface="Cambria"/>
                <a:cs typeface="Cambria"/>
                <a:sym typeface="Cambria"/>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Font typeface="Cambria"/>
              <a:buNone/>
              <a:defRPr>
                <a:latin typeface="Cambria"/>
                <a:ea typeface="Cambria"/>
                <a:cs typeface="Cambria"/>
                <a:sym typeface="Cambria"/>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Font typeface="Cambria"/>
              <a:buNone/>
              <a:defRPr sz="3600">
                <a:latin typeface="Cambria"/>
                <a:ea typeface="Cambria"/>
                <a:cs typeface="Cambria"/>
                <a:sym typeface="Cambria"/>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7" name="Google Shape;6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0" name="Google Shape;70;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1" name="Google Shape;71;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21.gi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ctrTitle"/>
          </p:nvPr>
        </p:nvSpPr>
        <p:spPr>
          <a:xfrm>
            <a:off x="311708" y="4397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600" dirty="0">
                <a:latin typeface="Cambria"/>
                <a:ea typeface="Cambria"/>
                <a:cs typeface="Cambria"/>
                <a:sym typeface="Cambria"/>
              </a:rPr>
              <a:t>Managing Professional Risks </a:t>
            </a:r>
            <a:br>
              <a:rPr lang="en" sz="3600" dirty="0">
                <a:latin typeface="Cambria"/>
                <a:ea typeface="Cambria"/>
                <a:cs typeface="Cambria"/>
                <a:sym typeface="Cambria"/>
              </a:rPr>
            </a:br>
            <a:r>
              <a:rPr lang="en" sz="3600" dirty="0">
                <a:latin typeface="Cambria"/>
                <a:ea typeface="Cambria"/>
                <a:cs typeface="Cambria"/>
                <a:sym typeface="Cambria"/>
              </a:rPr>
              <a:t>Through Networks</a:t>
            </a:r>
            <a:endParaRPr sz="3600" dirty="0">
              <a:latin typeface="Cambria"/>
              <a:ea typeface="Cambria"/>
              <a:cs typeface="Cambria"/>
              <a:sym typeface="Cambria"/>
            </a:endParaRPr>
          </a:p>
        </p:txBody>
      </p:sp>
      <p:sp>
        <p:nvSpPr>
          <p:cNvPr id="100" name="Google Shape;100;p25"/>
          <p:cNvSpPr txBox="1">
            <a:spLocks noGrp="1"/>
          </p:cNvSpPr>
          <p:nvPr>
            <p:ph type="subTitle" idx="1"/>
          </p:nvPr>
        </p:nvSpPr>
        <p:spPr>
          <a:xfrm>
            <a:off x="311700" y="2529325"/>
            <a:ext cx="8520600" cy="1094100"/>
          </a:xfrm>
          <a:prstGeom prst="rect">
            <a:avLst/>
          </a:prstGeom>
        </p:spPr>
        <p:txBody>
          <a:bodyPr spcFirstLastPara="1" wrap="square" lIns="91425" tIns="91425" rIns="91425" bIns="91425" anchor="t" anchorCtr="0">
            <a:normAutofit/>
          </a:bodyPr>
          <a:lstStyle/>
          <a:p>
            <a:pPr marL="0" lvl="0" indent="0" algn="ctr" rtl="0">
              <a:lnSpc>
                <a:spcPct val="130000"/>
              </a:lnSpc>
              <a:spcBef>
                <a:spcPts val="0"/>
              </a:spcBef>
              <a:spcAft>
                <a:spcPts val="0"/>
              </a:spcAft>
              <a:buSzPts val="1018"/>
              <a:buNone/>
            </a:pPr>
            <a:r>
              <a:rPr lang="en" sz="2190">
                <a:latin typeface="Cambria"/>
                <a:ea typeface="Cambria"/>
                <a:cs typeface="Cambria"/>
                <a:sym typeface="Cambria"/>
              </a:rPr>
              <a:t>Social Capital and Women's Achievement </a:t>
            </a:r>
            <a:endParaRPr sz="2190">
              <a:latin typeface="Cambria"/>
              <a:ea typeface="Cambria"/>
              <a:cs typeface="Cambria"/>
              <a:sym typeface="Cambria"/>
            </a:endParaRPr>
          </a:p>
          <a:p>
            <a:pPr marL="0" lvl="0" indent="0" algn="ctr" rtl="0">
              <a:lnSpc>
                <a:spcPct val="130000"/>
              </a:lnSpc>
              <a:spcBef>
                <a:spcPts val="0"/>
              </a:spcBef>
              <a:spcAft>
                <a:spcPts val="0"/>
              </a:spcAft>
              <a:buSzPts val="1018"/>
              <a:buNone/>
            </a:pPr>
            <a:r>
              <a:rPr lang="en" sz="2190">
                <a:latin typeface="Cambria"/>
                <a:ea typeface="Cambria"/>
                <a:cs typeface="Cambria"/>
                <a:sym typeface="Cambria"/>
              </a:rPr>
              <a:t>in Ancient China</a:t>
            </a:r>
            <a:endParaRPr sz="2190">
              <a:latin typeface="Cambria"/>
              <a:ea typeface="Cambria"/>
              <a:cs typeface="Cambria"/>
              <a:sym typeface="Cambria"/>
            </a:endParaRPr>
          </a:p>
        </p:txBody>
      </p:sp>
      <p:sp>
        <p:nvSpPr>
          <p:cNvPr id="101" name="Google Shape;101;p25"/>
          <p:cNvSpPr txBox="1">
            <a:spLocks noGrp="1"/>
          </p:cNvSpPr>
          <p:nvPr>
            <p:ph type="subTitle" idx="1"/>
          </p:nvPr>
        </p:nvSpPr>
        <p:spPr>
          <a:xfrm>
            <a:off x="311700" y="3841450"/>
            <a:ext cx="8520600" cy="792600"/>
          </a:xfrm>
          <a:prstGeom prst="rect">
            <a:avLst/>
          </a:prstGeom>
          <a:noFill/>
          <a:ln>
            <a:noFill/>
          </a:ln>
        </p:spPr>
        <p:txBody>
          <a:bodyPr spcFirstLastPara="1" wrap="square" lIns="91425" tIns="91425" rIns="91425" bIns="91425" anchor="t" anchorCtr="0">
            <a:normAutofit lnSpcReduction="10000"/>
          </a:bodyPr>
          <a:lstStyle/>
          <a:p>
            <a:pPr marL="0" lvl="0" indent="0" algn="ctr" rtl="0">
              <a:lnSpc>
                <a:spcPct val="100000"/>
              </a:lnSpc>
              <a:spcBef>
                <a:spcPts val="0"/>
              </a:spcBef>
              <a:spcAft>
                <a:spcPts val="0"/>
              </a:spcAft>
              <a:buSzPts val="2800"/>
              <a:buNone/>
            </a:pPr>
            <a:r>
              <a:rPr lang="en" sz="1400">
                <a:latin typeface="Cambria"/>
                <a:ea typeface="Cambria"/>
                <a:cs typeface="Cambria"/>
                <a:sym typeface="Cambria"/>
              </a:rPr>
              <a:t>Weifeng Liu</a:t>
            </a:r>
            <a:endParaRPr sz="1400">
              <a:latin typeface="Cambria"/>
              <a:ea typeface="Cambria"/>
              <a:cs typeface="Cambria"/>
              <a:sym typeface="Cambria"/>
            </a:endParaRPr>
          </a:p>
          <a:p>
            <a:pPr marL="0" lvl="0" indent="0" algn="ctr" rtl="0">
              <a:lnSpc>
                <a:spcPct val="100000"/>
              </a:lnSpc>
              <a:spcBef>
                <a:spcPts val="0"/>
              </a:spcBef>
              <a:spcAft>
                <a:spcPts val="0"/>
              </a:spcAft>
              <a:buSzPts val="2800"/>
              <a:buNone/>
            </a:pPr>
            <a:endParaRPr sz="1400">
              <a:latin typeface="Cambria"/>
              <a:ea typeface="Cambria"/>
              <a:cs typeface="Cambria"/>
              <a:sym typeface="Cambria"/>
            </a:endParaRPr>
          </a:p>
          <a:p>
            <a:pPr marL="0" lvl="0" indent="0" algn="ctr" rtl="0">
              <a:lnSpc>
                <a:spcPct val="100000"/>
              </a:lnSpc>
              <a:spcBef>
                <a:spcPts val="0"/>
              </a:spcBef>
              <a:spcAft>
                <a:spcPts val="0"/>
              </a:spcAft>
              <a:buSzPts val="2800"/>
              <a:buNone/>
            </a:pPr>
            <a:r>
              <a:rPr lang="en" sz="1400">
                <a:latin typeface="Cambria"/>
                <a:ea typeface="Cambria"/>
                <a:cs typeface="Cambria"/>
                <a:sym typeface="Cambria"/>
              </a:rPr>
              <a:t>February 25, 2025</a:t>
            </a:r>
            <a:endParaRPr sz="1400">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6"/>
          <p:cNvSpPr txBox="1">
            <a:spLocks noGrp="1"/>
          </p:cNvSpPr>
          <p:nvPr>
            <p:ph type="title" idx="4294967295"/>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Cambria"/>
                <a:ea typeface="Cambria"/>
                <a:cs typeface="Cambria"/>
                <a:sym typeface="Cambria"/>
              </a:rPr>
              <a:t>Content</a:t>
            </a:r>
            <a:endParaRPr>
              <a:latin typeface="Cambria"/>
              <a:ea typeface="Cambria"/>
              <a:cs typeface="Cambria"/>
              <a:sym typeface="Cambria"/>
            </a:endParaRPr>
          </a:p>
        </p:txBody>
      </p:sp>
      <p:sp>
        <p:nvSpPr>
          <p:cNvPr id="107" name="Google Shape;107;p26"/>
          <p:cNvSpPr txBox="1">
            <a:spLocks noGrp="1"/>
          </p:cNvSpPr>
          <p:nvPr>
            <p:ph type="body" idx="4294967295"/>
          </p:nvPr>
        </p:nvSpPr>
        <p:spPr>
          <a:xfrm>
            <a:off x="311700" y="1152475"/>
            <a:ext cx="8520600" cy="34164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50000"/>
              </a:lnSpc>
              <a:spcBef>
                <a:spcPts val="0"/>
              </a:spcBef>
              <a:spcAft>
                <a:spcPts val="0"/>
              </a:spcAft>
              <a:buNone/>
            </a:pPr>
            <a:r>
              <a:rPr lang="en" sz="2100" b="1">
                <a:latin typeface="Cambria"/>
                <a:ea typeface="Cambria"/>
                <a:cs typeface="Cambria"/>
                <a:sym typeface="Cambria"/>
              </a:rPr>
              <a:t>Part I: Literature Review </a:t>
            </a:r>
            <a:r>
              <a:rPr lang="en" sz="2100">
                <a:latin typeface="Cambria"/>
                <a:ea typeface="Cambria"/>
                <a:cs typeface="Cambria"/>
                <a:sym typeface="Cambria"/>
              </a:rPr>
              <a:t>Social Capital as Risk Management Tools</a:t>
            </a:r>
            <a:endParaRPr sz="2100">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Social capital theory and individual development</a:t>
            </a:r>
            <a:endParaRPr>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Family networks vs. Social networks</a:t>
            </a:r>
            <a:endParaRPr>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Network resources and personal achievement</a:t>
            </a:r>
            <a:endParaRPr>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Social capital in Chinese historical context</a:t>
            </a:r>
            <a:endParaRPr>
              <a:latin typeface="Cambria"/>
              <a:ea typeface="Cambria"/>
              <a:cs typeface="Cambria"/>
              <a:sym typeface="Cambria"/>
            </a:endParaRPr>
          </a:p>
          <a:p>
            <a:pPr marL="0" lvl="0" indent="0" algn="l" rtl="0">
              <a:lnSpc>
                <a:spcPct val="150000"/>
              </a:lnSpc>
              <a:spcBef>
                <a:spcPts val="0"/>
              </a:spcBef>
              <a:spcAft>
                <a:spcPts val="0"/>
              </a:spcAft>
              <a:buNone/>
            </a:pPr>
            <a:endParaRPr>
              <a:latin typeface="Cambria"/>
              <a:ea typeface="Cambria"/>
              <a:cs typeface="Cambria"/>
              <a:sym typeface="Cambria"/>
            </a:endParaRPr>
          </a:p>
          <a:p>
            <a:pPr marL="0" lvl="0" indent="0" algn="l" rtl="0">
              <a:lnSpc>
                <a:spcPct val="150000"/>
              </a:lnSpc>
              <a:spcBef>
                <a:spcPts val="0"/>
              </a:spcBef>
              <a:spcAft>
                <a:spcPts val="0"/>
              </a:spcAft>
              <a:buNone/>
            </a:pPr>
            <a:r>
              <a:rPr lang="en" sz="2100" b="1">
                <a:latin typeface="Cambria"/>
                <a:ea typeface="Cambria"/>
                <a:cs typeface="Cambria"/>
                <a:sym typeface="Cambria"/>
              </a:rPr>
              <a:t>Part II: Case Study </a:t>
            </a:r>
            <a:r>
              <a:rPr lang="en" sz="2100">
                <a:latin typeface="Cambria"/>
                <a:ea typeface="Cambria"/>
                <a:cs typeface="Cambria"/>
                <a:sym typeface="Cambria"/>
              </a:rPr>
              <a:t>Women's Literary Achievement in Ancient China</a:t>
            </a:r>
            <a:endParaRPr sz="2100">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A quantitative analysis using CBDB</a:t>
            </a:r>
            <a:endParaRPr>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Social network effects on literary recognition</a:t>
            </a:r>
            <a:endParaRPr>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Family connections and professional success</a:t>
            </a:r>
            <a:endParaRPr>
              <a:latin typeface="Cambria"/>
              <a:ea typeface="Cambria"/>
              <a:cs typeface="Cambria"/>
              <a:sym typeface="Cambria"/>
            </a:endParaRPr>
          </a:p>
          <a:p>
            <a:pPr marL="457200" lvl="0" indent="-317182" algn="l" rtl="0">
              <a:lnSpc>
                <a:spcPct val="150000"/>
              </a:lnSpc>
              <a:spcBef>
                <a:spcPts val="0"/>
              </a:spcBef>
              <a:spcAft>
                <a:spcPts val="0"/>
              </a:spcAft>
              <a:buSzPct val="100000"/>
              <a:buFont typeface="Cambria"/>
              <a:buChar char="-"/>
            </a:pPr>
            <a:r>
              <a:rPr lang="en">
                <a:latin typeface="Cambria"/>
                <a:ea typeface="Cambria"/>
                <a:cs typeface="Cambria"/>
                <a:sym typeface="Cambria"/>
              </a:rPr>
              <a:t>New evidence from historical data</a:t>
            </a:r>
            <a:endParaRPr>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Social Capital Theory</a:t>
            </a:r>
            <a:endParaRPr/>
          </a:p>
        </p:txBody>
      </p:sp>
      <p:sp>
        <p:nvSpPr>
          <p:cNvPr id="113" name="Google Shape;113;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1. Forms of Capital (Bourdieu, 1986)</a:t>
            </a:r>
            <a:endParaRPr/>
          </a:p>
          <a:p>
            <a:pPr marL="457200" lvl="0" indent="-342900" algn="l" rtl="0">
              <a:spcBef>
                <a:spcPts val="0"/>
              </a:spcBef>
              <a:spcAft>
                <a:spcPts val="0"/>
              </a:spcAft>
              <a:buSzPts val="1800"/>
              <a:buChar char="●"/>
            </a:pPr>
            <a:r>
              <a:rPr lang="en"/>
              <a:t>Social capital is tied to social reproduction and inequality</a:t>
            </a:r>
            <a:endParaRPr/>
          </a:p>
          <a:p>
            <a:pPr marL="457200" lvl="0" indent="-342900" algn="l" rtl="0">
              <a:spcBef>
                <a:spcPts val="0"/>
              </a:spcBef>
              <a:spcAft>
                <a:spcPts val="0"/>
              </a:spcAft>
              <a:buSzPts val="1800"/>
              <a:buChar char="●"/>
            </a:pPr>
            <a:r>
              <a:rPr lang="en"/>
              <a:t>Family networks as capital accumulation sites</a:t>
            </a:r>
            <a:endParaRPr/>
          </a:p>
          <a:p>
            <a:pPr marL="0" lvl="0" indent="0" algn="l" rtl="0">
              <a:spcBef>
                <a:spcPts val="0"/>
              </a:spcBef>
              <a:spcAft>
                <a:spcPts val="0"/>
              </a:spcAft>
              <a:buNone/>
            </a:pPr>
            <a:endParaRPr/>
          </a:p>
          <a:p>
            <a:pPr marL="0" lvl="0" indent="0" algn="l" rtl="0">
              <a:spcBef>
                <a:spcPts val="0"/>
              </a:spcBef>
              <a:spcAft>
                <a:spcPts val="0"/>
              </a:spcAft>
              <a:buNone/>
            </a:pPr>
            <a:r>
              <a:rPr lang="en"/>
              <a:t>2. Network Closure (Coleman, 1988)</a:t>
            </a:r>
            <a:endParaRPr/>
          </a:p>
          <a:p>
            <a:pPr marL="457200" lvl="0" indent="-342900" algn="l" rtl="0">
              <a:spcBef>
                <a:spcPts val="0"/>
              </a:spcBef>
              <a:spcAft>
                <a:spcPts val="0"/>
              </a:spcAft>
              <a:buSzPts val="1800"/>
              <a:buChar char="●"/>
            </a:pPr>
            <a:r>
              <a:rPr lang="en"/>
              <a:t>Closed networks provide reliable resources</a:t>
            </a:r>
            <a:endParaRPr/>
          </a:p>
          <a:p>
            <a:pPr marL="457200" lvl="0" indent="-342900" algn="l" rtl="0">
              <a:spcBef>
                <a:spcPts val="0"/>
              </a:spcBef>
              <a:spcAft>
                <a:spcPts val="0"/>
              </a:spcAft>
              <a:buSzPts val="1800"/>
              <a:buChar char="●"/>
            </a:pPr>
            <a:r>
              <a:rPr lang="en"/>
              <a:t>Trust and information flow in traditional societies</a:t>
            </a:r>
            <a:endParaRPr/>
          </a:p>
          <a:p>
            <a:pPr marL="0" lvl="0" indent="0" algn="l" rtl="0">
              <a:spcBef>
                <a:spcPts val="0"/>
              </a:spcBef>
              <a:spcAft>
                <a:spcPts val="0"/>
              </a:spcAft>
              <a:buNone/>
            </a:pPr>
            <a:endParaRPr/>
          </a:p>
        </p:txBody>
      </p:sp>
      <p:pic>
        <p:nvPicPr>
          <p:cNvPr id="114" name="Google Shape;114;p27"/>
          <p:cNvPicPr preferRelativeResize="0"/>
          <p:nvPr/>
        </p:nvPicPr>
        <p:blipFill>
          <a:blip r:embed="rId3">
            <a:alphaModFix/>
          </a:blip>
          <a:stretch>
            <a:fillRect/>
          </a:stretch>
        </p:blipFill>
        <p:spPr>
          <a:xfrm>
            <a:off x="6648104" y="1017737"/>
            <a:ext cx="2184198" cy="3152240"/>
          </a:xfrm>
          <a:prstGeom prst="rect">
            <a:avLst/>
          </a:prstGeom>
          <a:noFill/>
          <a:ln>
            <a:noFill/>
          </a:ln>
        </p:spPr>
      </p:pic>
      <p:sp>
        <p:nvSpPr>
          <p:cNvPr id="115" name="Google Shape;115;p27"/>
          <p:cNvSpPr txBox="1"/>
          <p:nvPr/>
        </p:nvSpPr>
        <p:spPr>
          <a:xfrm>
            <a:off x="6575900" y="4430725"/>
            <a:ext cx="2328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001D35"/>
                </a:solidFill>
                <a:highlight>
                  <a:srgbClr val="FFFFFF"/>
                </a:highlight>
                <a:latin typeface="Cambria"/>
                <a:ea typeface="Cambria"/>
                <a:cs typeface="Cambria"/>
                <a:sym typeface="Cambria"/>
              </a:rPr>
              <a:t>Pierre Bourdieu</a:t>
            </a:r>
            <a:endParaRPr sz="1200">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Social Capital &amp; Personal Achievement</a:t>
            </a:r>
            <a:endParaRPr/>
          </a:p>
        </p:txBody>
      </p:sp>
      <p:sp>
        <p:nvSpPr>
          <p:cNvPr id="121" name="Google Shape;121;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t>Global Research Evidence:</a:t>
            </a:r>
            <a:endParaRPr sz="1600" b="1"/>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Granovetter's seminal study (1973), "The Strength of Weak Ties," demonstrates how </a:t>
            </a:r>
            <a:r>
              <a:rPr lang="en" sz="1600" b="1"/>
              <a:t>informal social connections</a:t>
            </a:r>
            <a:r>
              <a:rPr lang="en" sz="1600"/>
              <a:t> and </a:t>
            </a:r>
            <a:r>
              <a:rPr lang="en" sz="1600" b="1"/>
              <a:t>weak social bonds</a:t>
            </a:r>
            <a:r>
              <a:rPr lang="en" sz="1600"/>
              <a:t> play a crucial role in information flow and opportunity access, establishing a fundamental theory in social network analysis through his research on job-seeking behavior in Boston's suburbs.</a:t>
            </a: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Burt's groundbreaking work (1992), "Structural Holes: The Social Structure of Competition," reveals how individuals who bridge </a:t>
            </a:r>
            <a:r>
              <a:rPr lang="en" sz="1600" b="1"/>
              <a:t>disconnected network segments</a:t>
            </a:r>
            <a:r>
              <a:rPr lang="en" sz="1600"/>
              <a:t> gain significant </a:t>
            </a:r>
            <a:r>
              <a:rPr lang="en" sz="1600" b="1"/>
              <a:t>competitive advantages </a:t>
            </a:r>
            <a:r>
              <a:rPr lang="en" sz="1600"/>
              <a:t>through superior access to diverse information and control of resource flows, based on his extensive study of corporate managers.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Social Capital &amp; Personal Achievement</a:t>
            </a:r>
            <a:endParaRPr/>
          </a:p>
        </p:txBody>
      </p:sp>
      <p:sp>
        <p:nvSpPr>
          <p:cNvPr id="127" name="Google Shape;127;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t>Chinese Context:</a:t>
            </a:r>
            <a:endParaRPr sz="1600" b="1"/>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Lin's influential research (2001), drawing from studies in both Chinese societies and comparative international contexts, theorizes how </a:t>
            </a:r>
            <a:r>
              <a:rPr lang="en" sz="1600" b="1"/>
              <a:t>social resources</a:t>
            </a:r>
            <a:r>
              <a:rPr lang="en" sz="1600"/>
              <a:t> are embedded in hierarchical structures and how individuals' network positions generate differential access to these resources, particularly relevant in understanding Chinese social capital.</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Bian's pivotal study (1997), based on research in </a:t>
            </a:r>
            <a:r>
              <a:rPr lang="en" sz="1600" b="1"/>
              <a:t>urban China</a:t>
            </a:r>
            <a:r>
              <a:rPr lang="en" sz="1600"/>
              <a:t> during the socialist and reform eras, challenges Granovetter's weak ties theory by showing how</a:t>
            </a:r>
            <a:r>
              <a:rPr lang="en" sz="1600" b="1"/>
              <a:t> strong ties </a:t>
            </a:r>
            <a:r>
              <a:rPr lang="en" sz="1600"/>
              <a:t>and </a:t>
            </a:r>
            <a:r>
              <a:rPr lang="en" sz="1600" b="1"/>
              <a:t>direct connections</a:t>
            </a:r>
            <a:r>
              <a:rPr lang="en" sz="1600"/>
              <a:t> play a more crucial role in Chinese society, especially in job searching and opportunity acquisition through </a:t>
            </a:r>
            <a:r>
              <a:rPr lang="en" sz="1600" b="1"/>
              <a:t>guanxi networks.</a:t>
            </a:r>
            <a:endParaRPr sz="16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Historical Chinese Family Networks</a:t>
            </a:r>
            <a:endParaRPr/>
          </a:p>
        </p:txBody>
      </p:sp>
      <p:sp>
        <p:nvSpPr>
          <p:cNvPr id="133" name="Google Shape;133;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SzPts val="1600"/>
              <a:buChar char="●"/>
            </a:pPr>
            <a:r>
              <a:rPr lang="en" sz="1600"/>
              <a:t>Campbell &amp; Lee's research (2000), using demographic data from Liaoning Province during </a:t>
            </a:r>
            <a:r>
              <a:rPr lang="en" sz="1600" b="1"/>
              <a:t>Qing Dynasty </a:t>
            </a:r>
            <a:r>
              <a:rPr lang="en" sz="1600"/>
              <a:t>(1749-1909), demonstrates how </a:t>
            </a:r>
            <a:r>
              <a:rPr lang="en" sz="1600" b="1"/>
              <a:t>family structure</a:t>
            </a:r>
            <a:r>
              <a:rPr lang="en" sz="1600"/>
              <a:t> and </a:t>
            </a:r>
            <a:r>
              <a:rPr lang="en" sz="1600" b="1"/>
              <a:t>kinship networks </a:t>
            </a:r>
            <a:r>
              <a:rPr lang="en" sz="1600"/>
              <a:t>fundamentally shaped individual </a:t>
            </a:r>
            <a:r>
              <a:rPr lang="en" sz="1600" b="1"/>
              <a:t>life chances</a:t>
            </a:r>
            <a:r>
              <a:rPr lang="en" sz="1600"/>
              <a:t> and </a:t>
            </a:r>
            <a:r>
              <a:rPr lang="en" sz="1600" b="1"/>
              <a:t>mortality patterns</a:t>
            </a:r>
            <a:r>
              <a:rPr lang="en" sz="1600"/>
              <a:t> in historical China, providing robust evidence that </a:t>
            </a:r>
            <a:r>
              <a:rPr lang="en" sz="1600" b="1"/>
              <a:t>household composition </a:t>
            </a:r>
            <a:r>
              <a:rPr lang="en" sz="1600"/>
              <a:t>served as a critical determinant of survival and social mobility.</a:t>
            </a:r>
            <a:endParaRPr sz="1600"/>
          </a:p>
          <a:p>
            <a:pPr marL="457200" lvl="0" indent="0" algn="l" rtl="0">
              <a:lnSpc>
                <a:spcPct val="115000"/>
              </a:lnSpc>
              <a:spcBef>
                <a:spcPts val="0"/>
              </a:spcBef>
              <a:spcAft>
                <a:spcPts val="0"/>
              </a:spcAft>
              <a:buNone/>
            </a:pPr>
            <a:endParaRPr sz="1600"/>
          </a:p>
          <a:p>
            <a:pPr marL="457200" lvl="0" indent="-330200" algn="l" rtl="0">
              <a:lnSpc>
                <a:spcPct val="115000"/>
              </a:lnSpc>
              <a:spcBef>
                <a:spcPts val="0"/>
              </a:spcBef>
              <a:spcAft>
                <a:spcPts val="0"/>
              </a:spcAft>
              <a:buSzPts val="1600"/>
              <a:buChar char="●"/>
            </a:pPr>
            <a:r>
              <a:rPr lang="en" sz="1600"/>
              <a:t>Zelin's examination (2005) of Zigong salt merchants during the </a:t>
            </a:r>
            <a:r>
              <a:rPr lang="en" sz="1600" b="1"/>
              <a:t>late Ming to Republican period</a:t>
            </a:r>
            <a:r>
              <a:rPr lang="en" sz="1600"/>
              <a:t> (1620-1938) illuminates how </a:t>
            </a:r>
            <a:r>
              <a:rPr lang="en" sz="1600" b="1"/>
              <a:t>merchant family networks </a:t>
            </a:r>
            <a:r>
              <a:rPr lang="en" sz="1600"/>
              <a:t>achieved long-term commercial success through sophisticated mechanisms of </a:t>
            </a:r>
            <a:r>
              <a:rPr lang="en" sz="1600" b="1"/>
              <a:t>capital mobilization</a:t>
            </a:r>
            <a:r>
              <a:rPr lang="en" sz="1600"/>
              <a:t> and </a:t>
            </a:r>
            <a:r>
              <a:rPr lang="en" sz="1600" b="1"/>
              <a:t>intergenerational transmission</a:t>
            </a:r>
            <a:r>
              <a:rPr lang="en" sz="1600"/>
              <a:t>, offering crucial insights into traditional Chinese business networks' sustainability.</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Historical Chinese Family Networks</a:t>
            </a:r>
            <a:endParaRPr/>
          </a:p>
        </p:txBody>
      </p:sp>
      <p:sp>
        <p:nvSpPr>
          <p:cNvPr id="139" name="Google Shape;139;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a:t>Deng &amp; Treiman's analysis (2008) of historical data from the </a:t>
            </a:r>
            <a:r>
              <a:rPr lang="en" sz="1600" b="1"/>
              <a:t>late Qing to early Republican era</a:t>
            </a:r>
            <a:r>
              <a:rPr lang="en" sz="1600"/>
              <a:t> (1850-1920) demonstrates how </a:t>
            </a:r>
            <a:r>
              <a:rPr lang="en" sz="1600" b="1"/>
              <a:t>lineage organizations</a:t>
            </a:r>
            <a:r>
              <a:rPr lang="en" sz="1600"/>
              <a:t> and </a:t>
            </a:r>
            <a:r>
              <a:rPr lang="en" sz="1600" b="1"/>
              <a:t>extended family networks</a:t>
            </a:r>
            <a:r>
              <a:rPr lang="en" sz="1600"/>
              <a:t> served as crucial mechanisms for </a:t>
            </a:r>
            <a:r>
              <a:rPr lang="en" sz="1600" b="1"/>
              <a:t>resource distribution</a:t>
            </a:r>
            <a:r>
              <a:rPr lang="en" sz="1600"/>
              <a:t> and </a:t>
            </a:r>
            <a:r>
              <a:rPr lang="en" sz="1600" b="1"/>
              <a:t>social advancement</a:t>
            </a:r>
            <a:r>
              <a:rPr lang="en" sz="1600"/>
              <a:t> in traditional Chinese society, particularly in facilitating educational and career opportunities.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Wong's comprehensive study (2011) reveals how </a:t>
            </a:r>
            <a:r>
              <a:rPr lang="en" sz="1600" b="1"/>
              <a:t>elite families</a:t>
            </a:r>
            <a:r>
              <a:rPr lang="en" sz="1600"/>
              <a:t> in </a:t>
            </a:r>
            <a:r>
              <a:rPr lang="en" sz="1600" b="1"/>
              <a:t>the High Qing period</a:t>
            </a:r>
            <a:r>
              <a:rPr lang="en" sz="1600"/>
              <a:t> (1683-1839) strategically utilized </a:t>
            </a:r>
            <a:r>
              <a:rPr lang="en" sz="1600" b="1"/>
              <a:t>marriage alliances </a:t>
            </a:r>
            <a:r>
              <a:rPr lang="en" sz="1600"/>
              <a:t>and </a:t>
            </a:r>
            <a:r>
              <a:rPr lang="en" sz="1600" b="1"/>
              <a:t>kinship ties </a:t>
            </a:r>
            <a:r>
              <a:rPr lang="en" sz="1600"/>
              <a:t>to maintain their social status and expand their influence networks across multiple generations.</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Women's Networks in Historical China</a:t>
            </a:r>
            <a:endParaRPr/>
          </a:p>
        </p:txBody>
      </p:sp>
      <p:sp>
        <p:nvSpPr>
          <p:cNvPr id="145" name="Google Shape;145;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a:t>Ko's comprehensive study (1994) examines women in the </a:t>
            </a:r>
            <a:r>
              <a:rPr lang="en" sz="1600" b="1"/>
              <a:t>Ming-Qing period </a:t>
            </a:r>
            <a:r>
              <a:rPr lang="en" sz="1600"/>
              <a:t>(1550-1750), particularly documenting how </a:t>
            </a:r>
            <a:r>
              <a:rPr lang="en" sz="1600" b="1"/>
              <a:t>inner chamber education</a:t>
            </a:r>
            <a:r>
              <a:rPr lang="en" sz="1600"/>
              <a:t> created sophisticated </a:t>
            </a:r>
            <a:r>
              <a:rPr lang="en" sz="1600" b="1"/>
              <a:t>female learning networks</a:t>
            </a:r>
            <a:r>
              <a:rPr lang="en" sz="1600"/>
              <a:t> within elite households of late imperial China, where women established their own </a:t>
            </a:r>
            <a:r>
              <a:rPr lang="en" sz="1600" b="1"/>
              <a:t>literary communities</a:t>
            </a:r>
            <a:r>
              <a:rPr lang="en" sz="1600"/>
              <a:t> and knowledge transmission systems despite spatial restrictions.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Mann's pioneering research (1997) focuses on the </a:t>
            </a:r>
            <a:r>
              <a:rPr lang="en" sz="1600" b="1"/>
              <a:t>Qing dynasty</a:t>
            </a:r>
            <a:r>
              <a:rPr lang="en" sz="1600"/>
              <a:t> (1644-1911), exploring how women developed alternative paths to achievement through strategic use of </a:t>
            </a:r>
            <a:r>
              <a:rPr lang="en" sz="1600" b="1"/>
              <a:t>marriage alliances</a:t>
            </a:r>
            <a:r>
              <a:rPr lang="en" sz="1600"/>
              <a:t> and </a:t>
            </a:r>
            <a:r>
              <a:rPr lang="en" sz="1600" b="1"/>
              <a:t>cross-family connections</a:t>
            </a:r>
            <a:r>
              <a:rPr lang="en" sz="1600"/>
              <a:t>, revealing the formation of vibrant </a:t>
            </a:r>
            <a:r>
              <a:rPr lang="en" sz="1600" b="1"/>
              <a:t>female literary circles</a:t>
            </a:r>
            <a:r>
              <a:rPr lang="en" sz="1600"/>
              <a:t> that transcended individual household boundaries.</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Women's Networks in Historical China</a:t>
            </a:r>
            <a:endParaRPr/>
          </a:p>
        </p:txBody>
      </p:sp>
      <p:sp>
        <p:nvSpPr>
          <p:cNvPr id="151" name="Google Shape;151;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30200" algn="l" rtl="0">
              <a:spcBef>
                <a:spcPts val="0"/>
              </a:spcBef>
              <a:spcAft>
                <a:spcPts val="0"/>
              </a:spcAft>
              <a:buSzPts val="1600"/>
              <a:buChar char="●"/>
            </a:pPr>
            <a:r>
              <a:rPr lang="en" sz="1600"/>
              <a:t>Wu's detailed study (2003) investigates the</a:t>
            </a:r>
            <a:r>
              <a:rPr lang="en" sz="1600" b="1"/>
              <a:t> late Ming to early Qing</a:t>
            </a:r>
            <a:r>
              <a:rPr lang="en" sz="1600"/>
              <a:t> transition (17th century), analyzing how women's </a:t>
            </a:r>
            <a:r>
              <a:rPr lang="en" sz="1600" b="1"/>
              <a:t>writing networks</a:t>
            </a:r>
            <a:r>
              <a:rPr lang="en" sz="1600"/>
              <a:t> and </a:t>
            </a:r>
            <a:r>
              <a:rPr lang="en" sz="1600" b="1"/>
              <a:t>artistic communities</a:t>
            </a:r>
            <a:r>
              <a:rPr lang="en" sz="1600"/>
              <a:t> developed through kinship bonds, particularly among prominent families in Jiangnan literary circles.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Robertson's groundbreaking work (1992) concentrates on </a:t>
            </a:r>
            <a:r>
              <a:rPr lang="en" sz="1600" b="1"/>
              <a:t>the High Qing period</a:t>
            </a:r>
            <a:r>
              <a:rPr lang="en" sz="1600"/>
              <a:t> (1683-1839), demonstrating how elite women constructed </a:t>
            </a:r>
            <a:r>
              <a:rPr lang="en" sz="1600" b="1"/>
              <a:t>parallel social networks </a:t>
            </a:r>
            <a:r>
              <a:rPr lang="en" sz="1600"/>
              <a:t>through </a:t>
            </a:r>
            <a:r>
              <a:rPr lang="en" sz="1600" b="1"/>
              <a:t>poetry circles</a:t>
            </a:r>
            <a:r>
              <a:rPr lang="en" sz="1600"/>
              <a:t>, especially in the cultural centers of Suzhou and Hangzhou.</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Fong's critical analysis (2004) spans the</a:t>
            </a:r>
            <a:r>
              <a:rPr lang="en" sz="1600" b="1"/>
              <a:t> late Ming through Qing dynasties</a:t>
            </a:r>
            <a:r>
              <a:rPr lang="en" sz="1600"/>
              <a:t> (16th-19th centuries), examining the evolution of </a:t>
            </a:r>
            <a:r>
              <a:rPr lang="en" sz="1600" b="1"/>
              <a:t>women's intellectual networks </a:t>
            </a:r>
            <a:r>
              <a:rPr lang="en" sz="1600"/>
              <a:t>within the constraints of Confucian gender norms, with particular attention to urban centers in the Jiangnan region.</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 Research Gaps</a:t>
            </a:r>
            <a:endParaRPr/>
          </a:p>
        </p:txBody>
      </p:sp>
      <p:sp>
        <p:nvSpPr>
          <p:cNvPr id="157" name="Google Shape;157;p34"/>
          <p:cNvSpPr txBox="1">
            <a:spLocks noGrp="1"/>
          </p:cNvSpPr>
          <p:nvPr>
            <p:ph type="body" idx="1"/>
          </p:nvPr>
        </p:nvSpPr>
        <p:spPr>
          <a:xfrm>
            <a:off x="311700" y="1152475"/>
            <a:ext cx="8520600" cy="12852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a:t>1. Difficulty in quantifying social capital effects on women in historical contexts</a:t>
            </a:r>
            <a:endParaRPr/>
          </a:p>
          <a:p>
            <a:pPr marL="0" lvl="0" indent="0" algn="l" rtl="0">
              <a:lnSpc>
                <a:spcPct val="150000"/>
              </a:lnSpc>
              <a:spcBef>
                <a:spcPts val="0"/>
              </a:spcBef>
              <a:spcAft>
                <a:spcPts val="0"/>
              </a:spcAft>
              <a:buNone/>
            </a:pPr>
            <a:r>
              <a:rPr lang="en"/>
              <a:t>2. Challenges in separating family influence from other social factors</a:t>
            </a:r>
            <a:endParaRPr/>
          </a:p>
        </p:txBody>
      </p:sp>
      <p:sp>
        <p:nvSpPr>
          <p:cNvPr id="158" name="Google Shape;158;p34"/>
          <p:cNvSpPr txBox="1">
            <a:spLocks noGrp="1"/>
          </p:cNvSpPr>
          <p:nvPr>
            <p:ph type="title"/>
          </p:nvPr>
        </p:nvSpPr>
        <p:spPr>
          <a:xfrm>
            <a:off x="311700" y="24376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Part II: Case Study</a:t>
            </a:r>
            <a:endParaRPr/>
          </a:p>
        </p:txBody>
      </p:sp>
      <p:sp>
        <p:nvSpPr>
          <p:cNvPr id="159" name="Google Shape;159;p34"/>
          <p:cNvSpPr txBox="1">
            <a:spLocks noGrp="1"/>
          </p:cNvSpPr>
          <p:nvPr>
            <p:ph type="body" idx="1"/>
          </p:nvPr>
        </p:nvSpPr>
        <p:spPr>
          <a:xfrm>
            <a:off x="311700" y="3175575"/>
            <a:ext cx="8520600" cy="12852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a:t>A quantitative analysis on social capital and women’s achievement: </a:t>
            </a:r>
            <a:endParaRPr/>
          </a:p>
          <a:p>
            <a:pPr marL="0" lvl="0" indent="0" algn="l" rtl="0">
              <a:lnSpc>
                <a:spcPct val="150000"/>
              </a:lnSpc>
              <a:spcBef>
                <a:spcPts val="0"/>
              </a:spcBef>
              <a:spcAft>
                <a:spcPts val="0"/>
              </a:spcAft>
              <a:buNone/>
            </a:pPr>
            <a:r>
              <a:rPr lang="en"/>
              <a:t>How </a:t>
            </a:r>
            <a:r>
              <a:rPr lang="en" b="1"/>
              <a:t>Social Capital </a:t>
            </a:r>
            <a:r>
              <a:rPr lang="en"/>
              <a:t>Influenced </a:t>
            </a:r>
            <a:r>
              <a:rPr lang="en" b="1"/>
              <a:t>Women’s Literary Recognition</a:t>
            </a:r>
            <a:r>
              <a:rPr lang="en"/>
              <a:t> in Ancient China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Part II: Case Study</a:t>
            </a:r>
            <a:endParaRPr/>
          </a:p>
        </p:txBody>
      </p:sp>
      <p:sp>
        <p:nvSpPr>
          <p:cNvPr id="165" name="Google Shape;165;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50000"/>
              </a:lnSpc>
              <a:spcBef>
                <a:spcPts val="0"/>
              </a:spcBef>
              <a:spcAft>
                <a:spcPts val="0"/>
              </a:spcAft>
              <a:buSzPts val="1800"/>
              <a:buNone/>
            </a:pPr>
            <a:r>
              <a:rPr lang="en"/>
              <a:t>How social capital, especially male-female connections, influenced women’s literary status in ancient China. </a:t>
            </a:r>
            <a:endParaRPr/>
          </a:p>
          <a:p>
            <a:pPr marL="0" lvl="0" indent="0" algn="l" rtl="0">
              <a:lnSpc>
                <a:spcPct val="150000"/>
              </a:lnSpc>
              <a:spcBef>
                <a:spcPts val="1200"/>
              </a:spcBef>
              <a:spcAft>
                <a:spcPts val="0"/>
              </a:spcAft>
              <a:buSzPts val="1800"/>
              <a:buNone/>
            </a:pPr>
            <a:r>
              <a:rPr lang="en"/>
              <a:t>This topic is focusing on: </a:t>
            </a:r>
            <a:endParaRPr/>
          </a:p>
          <a:p>
            <a:pPr marL="457200" lvl="0" indent="-342900" algn="l" rtl="0">
              <a:lnSpc>
                <a:spcPct val="150000"/>
              </a:lnSpc>
              <a:spcBef>
                <a:spcPts val="1200"/>
              </a:spcBef>
              <a:spcAft>
                <a:spcPts val="0"/>
              </a:spcAft>
              <a:buSzPts val="1800"/>
              <a:buChar char="-"/>
            </a:pPr>
            <a:r>
              <a:rPr lang="en"/>
              <a:t>How social capital shaped women’s access to literary resources and recognition</a:t>
            </a:r>
            <a:endParaRPr/>
          </a:p>
          <a:p>
            <a:pPr marL="457200" lvl="0" indent="-342900" algn="l" rtl="0">
              <a:lnSpc>
                <a:spcPct val="150000"/>
              </a:lnSpc>
              <a:spcBef>
                <a:spcPts val="0"/>
              </a:spcBef>
              <a:spcAft>
                <a:spcPts val="0"/>
              </a:spcAft>
              <a:buSzPts val="1800"/>
              <a:buChar char="-"/>
            </a:pPr>
            <a:r>
              <a:rPr lang="en"/>
              <a:t>The role of male gatekeepers in determining women’s literary visibility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Part II: Data Introduction</a:t>
            </a:r>
            <a:endParaRPr/>
          </a:p>
        </p:txBody>
      </p:sp>
      <p:pic>
        <p:nvPicPr>
          <p:cNvPr id="171" name="Google Shape;171;p36"/>
          <p:cNvPicPr preferRelativeResize="0"/>
          <p:nvPr/>
        </p:nvPicPr>
        <p:blipFill rotWithShape="1">
          <a:blip r:embed="rId3">
            <a:alphaModFix/>
          </a:blip>
          <a:srcRect/>
          <a:stretch/>
        </p:blipFill>
        <p:spPr>
          <a:xfrm>
            <a:off x="311700" y="1170125"/>
            <a:ext cx="3972741" cy="3191000"/>
          </a:xfrm>
          <a:prstGeom prst="rect">
            <a:avLst/>
          </a:prstGeom>
          <a:noFill/>
          <a:ln w="9525" cap="flat" cmpd="sng">
            <a:solidFill>
              <a:schemeClr val="dk2"/>
            </a:solidFill>
            <a:prstDash val="solid"/>
            <a:round/>
            <a:headEnd type="none" w="sm" len="sm"/>
            <a:tailEnd type="none" w="sm" len="sm"/>
          </a:ln>
        </p:spPr>
      </p:pic>
      <p:pic>
        <p:nvPicPr>
          <p:cNvPr id="172" name="Google Shape;172;p36"/>
          <p:cNvPicPr preferRelativeResize="0"/>
          <p:nvPr/>
        </p:nvPicPr>
        <p:blipFill rotWithShape="1">
          <a:blip r:embed="rId4">
            <a:alphaModFix/>
          </a:blip>
          <a:srcRect/>
          <a:stretch/>
        </p:blipFill>
        <p:spPr>
          <a:xfrm>
            <a:off x="4902553" y="1170125"/>
            <a:ext cx="3929748" cy="3191002"/>
          </a:xfrm>
          <a:prstGeom prst="rect">
            <a:avLst/>
          </a:prstGeom>
          <a:noFill/>
          <a:ln w="9525" cap="flat" cmpd="sng">
            <a:solidFill>
              <a:schemeClr val="dk2"/>
            </a:solidFill>
            <a:prstDash val="solid"/>
            <a:round/>
            <a:headEnd type="none" w="sm" len="sm"/>
            <a:tailEnd type="none" w="sm" len="sm"/>
          </a:ln>
        </p:spPr>
      </p:pic>
      <p:sp>
        <p:nvSpPr>
          <p:cNvPr id="173" name="Google Shape;173;p36"/>
          <p:cNvSpPr txBox="1"/>
          <p:nvPr/>
        </p:nvSpPr>
        <p:spPr>
          <a:xfrm>
            <a:off x="798075" y="4513525"/>
            <a:ext cx="3000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1200"/>
              </a:spcAft>
              <a:buClr>
                <a:srgbClr val="000000"/>
              </a:buClr>
              <a:buSzPts val="1600"/>
              <a:buFont typeface="Arial"/>
              <a:buNone/>
            </a:pPr>
            <a:r>
              <a:rPr lang="en" sz="1600" b="1" i="0" u="none" strike="noStrike" cap="none">
                <a:solidFill>
                  <a:schemeClr val="dk2"/>
                </a:solidFill>
                <a:latin typeface="Cambria"/>
                <a:ea typeface="Cambria"/>
                <a:cs typeface="Cambria"/>
                <a:sym typeface="Cambria"/>
              </a:rPr>
              <a:t>China Biographical Database</a:t>
            </a:r>
            <a:endParaRPr sz="1600" b="1" i="0" u="none" strike="noStrike" cap="none">
              <a:solidFill>
                <a:srgbClr val="000000"/>
              </a:solidFill>
              <a:latin typeface="Cambria"/>
              <a:ea typeface="Cambria"/>
              <a:cs typeface="Cambria"/>
              <a:sym typeface="Cambria"/>
            </a:endParaRPr>
          </a:p>
        </p:txBody>
      </p:sp>
      <p:sp>
        <p:nvSpPr>
          <p:cNvPr id="174" name="Google Shape;174;p36"/>
          <p:cNvSpPr txBox="1"/>
          <p:nvPr/>
        </p:nvSpPr>
        <p:spPr>
          <a:xfrm>
            <a:off x="5345927" y="4513525"/>
            <a:ext cx="3228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1200"/>
              </a:spcAft>
              <a:buClr>
                <a:srgbClr val="000000"/>
              </a:buClr>
              <a:buSzPts val="1600"/>
              <a:buFont typeface="Arial"/>
              <a:buNone/>
            </a:pPr>
            <a:r>
              <a:rPr lang="en" sz="1600" b="1" i="0" u="none" strike="noStrike" cap="none">
                <a:solidFill>
                  <a:schemeClr val="dk2"/>
                </a:solidFill>
                <a:latin typeface="Cambria"/>
                <a:ea typeface="Cambria"/>
                <a:cs typeface="Cambria"/>
                <a:sym typeface="Cambria"/>
              </a:rPr>
              <a:t>Ming Qing Women’s Writings</a:t>
            </a:r>
            <a:endParaRPr sz="1600" b="1" i="0" u="none" strike="noStrike" cap="none">
              <a:solidFill>
                <a:srgbClr val="000000"/>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Women Poets’ Literary Recognition</a:t>
            </a:r>
            <a:endParaRPr/>
          </a:p>
        </p:txBody>
      </p:sp>
      <p:sp>
        <p:nvSpPr>
          <p:cNvPr id="180" name="Google Shape;180;p37"/>
          <p:cNvSpPr txBox="1">
            <a:spLocks noGrp="1"/>
          </p:cNvSpPr>
          <p:nvPr>
            <p:ph type="body" idx="1"/>
          </p:nvPr>
        </p:nvSpPr>
        <p:spPr>
          <a:xfrm>
            <a:off x="311700" y="1152475"/>
            <a:ext cx="4260300" cy="34164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SzPts val="1800"/>
              <a:buNone/>
            </a:pPr>
            <a:r>
              <a:rPr lang="en"/>
              <a:t>For Women Poets</a:t>
            </a:r>
            <a:endParaRPr b="1"/>
          </a:p>
          <a:p>
            <a:pPr marL="457200" lvl="0" indent="-342900" algn="l" rtl="0">
              <a:lnSpc>
                <a:spcPct val="150000"/>
              </a:lnSpc>
              <a:spcBef>
                <a:spcPts val="1200"/>
              </a:spcBef>
              <a:spcAft>
                <a:spcPts val="0"/>
              </a:spcAft>
              <a:buSzPts val="1800"/>
              <a:buChar char="-"/>
            </a:pPr>
            <a:r>
              <a:rPr lang="en"/>
              <a:t>Biography (Zhuan/傳記)</a:t>
            </a:r>
            <a:endParaRPr/>
          </a:p>
          <a:p>
            <a:pPr marL="457200" lvl="0" indent="-342900" algn="l" rtl="0">
              <a:lnSpc>
                <a:spcPct val="150000"/>
              </a:lnSpc>
              <a:spcBef>
                <a:spcPts val="0"/>
              </a:spcBef>
              <a:spcAft>
                <a:spcPts val="0"/>
              </a:spcAft>
              <a:buSzPts val="1800"/>
              <a:buChar char="-"/>
            </a:pPr>
            <a:r>
              <a:rPr lang="en" b="1"/>
              <a:t>Individual Collections (Bieji/別集) </a:t>
            </a:r>
            <a:endParaRPr b="1"/>
          </a:p>
          <a:p>
            <a:pPr marL="457200" lvl="0" indent="-342900" algn="l" rtl="0">
              <a:lnSpc>
                <a:spcPct val="150000"/>
              </a:lnSpc>
              <a:spcBef>
                <a:spcPts val="0"/>
              </a:spcBef>
              <a:spcAft>
                <a:spcPts val="0"/>
              </a:spcAft>
              <a:buSzPts val="1800"/>
              <a:buChar char="-"/>
            </a:pPr>
            <a:r>
              <a:rPr lang="en"/>
              <a:t>Joint Publication (Heke/合刻)</a:t>
            </a:r>
            <a:endParaRPr/>
          </a:p>
          <a:p>
            <a:pPr marL="457200" lvl="0" indent="-342900" algn="l" rtl="0">
              <a:lnSpc>
                <a:spcPct val="150000"/>
              </a:lnSpc>
              <a:spcBef>
                <a:spcPts val="0"/>
              </a:spcBef>
              <a:spcAft>
                <a:spcPts val="0"/>
              </a:spcAft>
              <a:buSzPts val="1800"/>
              <a:buChar char="-"/>
            </a:pPr>
            <a:r>
              <a:rPr lang="en"/>
              <a:t>Tanci (彈詞)</a:t>
            </a:r>
            <a:endParaRPr/>
          </a:p>
          <a:p>
            <a:pPr marL="457200" lvl="0" indent="-342900" algn="l" rtl="0">
              <a:lnSpc>
                <a:spcPct val="150000"/>
              </a:lnSpc>
              <a:spcBef>
                <a:spcPts val="0"/>
              </a:spcBef>
              <a:spcAft>
                <a:spcPts val="0"/>
              </a:spcAft>
              <a:buSzPts val="1800"/>
              <a:buChar char="-"/>
            </a:pPr>
            <a:r>
              <a:rPr lang="en"/>
              <a:t>Anthology (Zongji/總集)</a:t>
            </a:r>
            <a:endParaRPr/>
          </a:p>
          <a:p>
            <a:pPr marL="457200" lvl="0" indent="-342900" algn="l" rtl="0">
              <a:lnSpc>
                <a:spcPct val="150000"/>
              </a:lnSpc>
              <a:spcBef>
                <a:spcPts val="0"/>
              </a:spcBef>
              <a:spcAft>
                <a:spcPts val="0"/>
              </a:spcAft>
              <a:buSzPts val="1800"/>
              <a:buChar char="-"/>
            </a:pPr>
            <a:r>
              <a:rPr lang="en"/>
              <a:t>Poetry Criticism (Shihua/詩話)</a:t>
            </a:r>
            <a:endParaRPr/>
          </a:p>
          <a:p>
            <a:pPr marL="0" lvl="0" indent="0" algn="r" rtl="0">
              <a:lnSpc>
                <a:spcPct val="115000"/>
              </a:lnSpc>
              <a:spcBef>
                <a:spcPts val="1200"/>
              </a:spcBef>
              <a:spcAft>
                <a:spcPts val="1200"/>
              </a:spcAft>
              <a:buSzPts val="1800"/>
              <a:buNone/>
            </a:pPr>
            <a:endParaRPr/>
          </a:p>
        </p:txBody>
      </p:sp>
      <p:grpSp>
        <p:nvGrpSpPr>
          <p:cNvPr id="181" name="Google Shape;181;p37"/>
          <p:cNvGrpSpPr/>
          <p:nvPr/>
        </p:nvGrpSpPr>
        <p:grpSpPr>
          <a:xfrm>
            <a:off x="5879425" y="145375"/>
            <a:ext cx="3203525" cy="4919875"/>
            <a:chOff x="5879425" y="145375"/>
            <a:chExt cx="3203525" cy="4919875"/>
          </a:xfrm>
        </p:grpSpPr>
        <p:pic>
          <p:nvPicPr>
            <p:cNvPr id="182" name="Google Shape;182;p37"/>
            <p:cNvPicPr preferRelativeResize="0"/>
            <p:nvPr/>
          </p:nvPicPr>
          <p:blipFill rotWithShape="1">
            <a:blip r:embed="rId3">
              <a:alphaModFix/>
            </a:blip>
            <a:srcRect/>
            <a:stretch/>
          </p:blipFill>
          <p:spPr>
            <a:xfrm>
              <a:off x="5879425" y="145375"/>
              <a:ext cx="3203525" cy="2106975"/>
            </a:xfrm>
            <a:prstGeom prst="rect">
              <a:avLst/>
            </a:prstGeom>
            <a:noFill/>
            <a:ln w="9525" cap="flat" cmpd="sng">
              <a:solidFill>
                <a:schemeClr val="dk2"/>
              </a:solidFill>
              <a:prstDash val="solid"/>
              <a:round/>
              <a:headEnd type="none" w="sm" len="sm"/>
              <a:tailEnd type="none" w="sm" len="sm"/>
            </a:ln>
          </p:spPr>
        </p:pic>
        <p:pic>
          <p:nvPicPr>
            <p:cNvPr id="183" name="Google Shape;183;p37"/>
            <p:cNvPicPr preferRelativeResize="0"/>
            <p:nvPr/>
          </p:nvPicPr>
          <p:blipFill rotWithShape="1">
            <a:blip r:embed="rId4">
              <a:alphaModFix/>
            </a:blip>
            <a:srcRect b="7893"/>
            <a:stretch/>
          </p:blipFill>
          <p:spPr>
            <a:xfrm>
              <a:off x="5970925" y="2324550"/>
              <a:ext cx="3091725" cy="2740700"/>
            </a:xfrm>
            <a:prstGeom prst="rect">
              <a:avLst/>
            </a:prstGeom>
            <a:noFill/>
            <a:ln w="9525" cap="flat" cmpd="sng">
              <a:solidFill>
                <a:schemeClr val="dk2"/>
              </a:solidFill>
              <a:prstDash val="solid"/>
              <a:round/>
              <a:headEnd type="none" w="sm" len="sm"/>
              <a:tailEnd type="none" w="sm" len="sm"/>
            </a:ln>
          </p:spPr>
        </p:pic>
      </p:grpSp>
      <p:sp>
        <p:nvSpPr>
          <p:cNvPr id="184" name="Google Shape;184;p37"/>
          <p:cNvSpPr txBox="1"/>
          <p:nvPr/>
        </p:nvSpPr>
        <p:spPr>
          <a:xfrm>
            <a:off x="941850" y="4192425"/>
            <a:ext cx="3000000" cy="6372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en" sz="1800" b="1" i="0" u="none" strike="noStrike" cap="none">
                <a:solidFill>
                  <a:schemeClr val="dk1"/>
                </a:solidFill>
                <a:highlight>
                  <a:srgbClr val="FFFFFF"/>
                </a:highlight>
                <a:latin typeface="Times New Roman"/>
                <a:ea typeface="Times New Roman"/>
                <a:cs typeface="Times New Roman"/>
                <a:sym typeface="Times New Roman"/>
              </a:rPr>
              <a:t>𝑌  = 𝐼 (</a:t>
            </a:r>
            <a:r>
              <a:rPr lang="en" sz="1700" b="1" i="0" u="none" strike="noStrike" cap="none">
                <a:solidFill>
                  <a:schemeClr val="dk1"/>
                </a:solidFill>
                <a:highlight>
                  <a:srgbClr val="FFFFFF"/>
                </a:highlight>
                <a:latin typeface="Times New Roman"/>
                <a:ea typeface="Times New Roman"/>
                <a:cs typeface="Times New Roman"/>
                <a:sym typeface="Times New Roman"/>
              </a:rPr>
              <a:t>Bieji </a:t>
            </a:r>
            <a:r>
              <a:rPr lang="en" sz="1800" b="1" i="0" u="none" strike="noStrike" cap="none">
                <a:solidFill>
                  <a:schemeClr val="dk1"/>
                </a:solidFill>
                <a:highlight>
                  <a:srgbClr val="FFFFFF"/>
                </a:highlight>
                <a:latin typeface="Times New Roman"/>
                <a:ea typeface="Times New Roman"/>
                <a:cs typeface="Times New Roman"/>
                <a:sym typeface="Times New Roman"/>
              </a:rPr>
              <a:t>&gt; 0)</a:t>
            </a:r>
            <a:endParaRPr sz="1300" b="1"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Part II: Analysis Structure</a:t>
            </a:r>
            <a:endParaRPr/>
          </a:p>
        </p:txBody>
      </p:sp>
      <p:grpSp>
        <p:nvGrpSpPr>
          <p:cNvPr id="190" name="Google Shape;190;p38"/>
          <p:cNvGrpSpPr/>
          <p:nvPr/>
        </p:nvGrpSpPr>
        <p:grpSpPr>
          <a:xfrm>
            <a:off x="1807593" y="1148725"/>
            <a:ext cx="3781724" cy="3823500"/>
            <a:chOff x="333118" y="1140150"/>
            <a:chExt cx="3781724" cy="3823500"/>
          </a:xfrm>
        </p:grpSpPr>
        <p:sp>
          <p:nvSpPr>
            <p:cNvPr id="191" name="Google Shape;191;p38"/>
            <p:cNvSpPr/>
            <p:nvPr/>
          </p:nvSpPr>
          <p:spPr>
            <a:xfrm>
              <a:off x="333118" y="114015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Kinship</a:t>
              </a:r>
              <a:endParaRPr sz="1400" b="0" i="0" u="none" strike="noStrike" cap="none">
                <a:solidFill>
                  <a:srgbClr val="000000"/>
                </a:solidFill>
                <a:latin typeface="Arial"/>
                <a:ea typeface="Arial"/>
                <a:cs typeface="Arial"/>
                <a:sym typeface="Arial"/>
              </a:endParaRPr>
            </a:p>
          </p:txBody>
        </p:sp>
        <p:sp>
          <p:nvSpPr>
            <p:cNvPr id="192" name="Google Shape;192;p38"/>
            <p:cNvSpPr/>
            <p:nvPr/>
          </p:nvSpPr>
          <p:spPr>
            <a:xfrm>
              <a:off x="333118" y="193740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Social Relations</a:t>
              </a:r>
              <a:endParaRPr sz="1400" b="0" i="0" u="none" strike="noStrike" cap="none">
                <a:solidFill>
                  <a:srgbClr val="000000"/>
                </a:solidFill>
                <a:latin typeface="Arial"/>
                <a:ea typeface="Arial"/>
                <a:cs typeface="Arial"/>
                <a:sym typeface="Arial"/>
              </a:endParaRPr>
            </a:p>
          </p:txBody>
        </p:sp>
        <p:sp>
          <p:nvSpPr>
            <p:cNvPr id="193" name="Google Shape;193;p38"/>
            <p:cNvSpPr/>
            <p:nvPr/>
          </p:nvSpPr>
          <p:spPr>
            <a:xfrm>
              <a:off x="333118" y="273465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Temporal</a:t>
              </a:r>
              <a:endParaRPr sz="1400" b="0" i="0" u="none" strike="noStrike" cap="none">
                <a:solidFill>
                  <a:srgbClr val="000000"/>
                </a:solidFill>
                <a:latin typeface="Arial"/>
                <a:ea typeface="Arial"/>
                <a:cs typeface="Arial"/>
                <a:sym typeface="Arial"/>
              </a:endParaRPr>
            </a:p>
          </p:txBody>
        </p:sp>
        <p:sp>
          <p:nvSpPr>
            <p:cNvPr id="194" name="Google Shape;194;p38"/>
            <p:cNvSpPr/>
            <p:nvPr/>
          </p:nvSpPr>
          <p:spPr>
            <a:xfrm>
              <a:off x="333118" y="353190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Spatial</a:t>
              </a:r>
              <a:endParaRPr sz="1400" b="0" i="0" u="none" strike="noStrike" cap="none">
                <a:solidFill>
                  <a:srgbClr val="000000"/>
                </a:solidFill>
                <a:latin typeface="Arial"/>
                <a:ea typeface="Arial"/>
                <a:cs typeface="Arial"/>
                <a:sym typeface="Arial"/>
              </a:endParaRPr>
            </a:p>
          </p:txBody>
        </p:sp>
        <p:sp>
          <p:nvSpPr>
            <p:cNvPr id="195" name="Google Shape;195;p38"/>
            <p:cNvSpPr/>
            <p:nvPr/>
          </p:nvSpPr>
          <p:spPr>
            <a:xfrm>
              <a:off x="333118" y="432915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Social Status</a:t>
              </a:r>
              <a:endParaRPr sz="1400" b="0" i="0" u="none" strike="noStrike" cap="none">
                <a:solidFill>
                  <a:srgbClr val="000000"/>
                </a:solidFill>
                <a:latin typeface="Arial"/>
                <a:ea typeface="Arial"/>
                <a:cs typeface="Arial"/>
                <a:sym typeface="Arial"/>
              </a:endParaRPr>
            </a:p>
          </p:txBody>
        </p:sp>
        <p:sp>
          <p:nvSpPr>
            <p:cNvPr id="196" name="Google Shape;196;p38"/>
            <p:cNvSpPr/>
            <p:nvPr/>
          </p:nvSpPr>
          <p:spPr>
            <a:xfrm>
              <a:off x="2271642" y="114015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Elders; Offspring;</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In-laws; Siblings</a:t>
              </a:r>
              <a:endParaRPr sz="900" b="0" i="0" u="none" strike="noStrike" cap="none">
                <a:solidFill>
                  <a:srgbClr val="000000"/>
                </a:solidFill>
                <a:latin typeface="Arial"/>
                <a:ea typeface="Arial"/>
                <a:cs typeface="Arial"/>
                <a:sym typeface="Arial"/>
              </a:endParaRPr>
            </a:p>
          </p:txBody>
        </p:sp>
        <p:sp>
          <p:nvSpPr>
            <p:cNvPr id="197" name="Google Shape;197;p38"/>
            <p:cNvSpPr/>
            <p:nvPr/>
          </p:nvSpPr>
          <p:spPr>
            <a:xfrm>
              <a:off x="2271638" y="193740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Academic relations;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Political ties;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Literary work;</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sp>
          <p:nvSpPr>
            <p:cNvPr id="198" name="Google Shape;198;p38"/>
            <p:cNvSpPr/>
            <p:nvPr/>
          </p:nvSpPr>
          <p:spPr>
            <a:xfrm>
              <a:off x="2271635" y="273465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 Historical period / dynasty</a:t>
              </a:r>
              <a:endParaRPr sz="900" b="0" i="0" u="none" strike="noStrike" cap="none">
                <a:solidFill>
                  <a:srgbClr val="000000"/>
                </a:solidFill>
                <a:latin typeface="Arial"/>
                <a:ea typeface="Arial"/>
                <a:cs typeface="Arial"/>
                <a:sym typeface="Arial"/>
              </a:endParaRPr>
            </a:p>
          </p:txBody>
        </p:sp>
        <p:sp>
          <p:nvSpPr>
            <p:cNvPr id="199" name="Google Shape;199;p38"/>
            <p:cNvSpPr/>
            <p:nvPr/>
          </p:nvSpPr>
          <p:spPr>
            <a:xfrm>
              <a:off x="2271631" y="353190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Administrative divisions;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Regional educational development level</a:t>
              </a:r>
              <a:endParaRPr sz="900" b="0" i="0" u="none" strike="noStrike" cap="none">
                <a:solidFill>
                  <a:srgbClr val="000000"/>
                </a:solidFill>
                <a:latin typeface="Arial"/>
                <a:ea typeface="Arial"/>
                <a:cs typeface="Arial"/>
                <a:sym typeface="Arial"/>
              </a:endParaRPr>
            </a:p>
          </p:txBody>
        </p:sp>
        <p:sp>
          <p:nvSpPr>
            <p:cNvPr id="200" name="Google Shape;200;p38"/>
            <p:cNvSpPr/>
            <p:nvPr/>
          </p:nvSpPr>
          <p:spPr>
            <a:xfrm>
              <a:off x="2271628" y="432915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000000"/>
                  </a:solidFill>
                  <a:latin typeface="Arial"/>
                  <a:ea typeface="Arial"/>
                  <a:cs typeface="Arial"/>
                  <a:sym typeface="Arial"/>
                </a:rPr>
                <a:t>Resource in kinship:</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en" sz="900" b="0" i="0" u="none" strike="noStrike" cap="none">
                  <a:solidFill>
                    <a:srgbClr val="000000"/>
                  </a:solidFill>
                  <a:latin typeface="Arial"/>
                  <a:ea typeface="Arial"/>
                  <a:cs typeface="Arial"/>
                  <a:sym typeface="Arial"/>
                </a:rPr>
                <a:t>· Official positions;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Social reputation;</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cxnSp>
          <p:nvCxnSpPr>
            <p:cNvPr id="201" name="Google Shape;201;p38"/>
            <p:cNvCxnSpPr/>
            <p:nvPr/>
          </p:nvCxnSpPr>
          <p:spPr>
            <a:xfrm>
              <a:off x="1809925" y="1457400"/>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02" name="Google Shape;202;p38"/>
            <p:cNvCxnSpPr/>
            <p:nvPr/>
          </p:nvCxnSpPr>
          <p:spPr>
            <a:xfrm>
              <a:off x="1809925" y="2254650"/>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03" name="Google Shape;203;p38"/>
            <p:cNvCxnSpPr/>
            <p:nvPr/>
          </p:nvCxnSpPr>
          <p:spPr>
            <a:xfrm>
              <a:off x="1809925" y="3090925"/>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04" name="Google Shape;204;p38"/>
            <p:cNvCxnSpPr/>
            <p:nvPr/>
          </p:nvCxnSpPr>
          <p:spPr>
            <a:xfrm>
              <a:off x="1809925" y="3849150"/>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05" name="Google Shape;205;p38"/>
            <p:cNvCxnSpPr/>
            <p:nvPr/>
          </p:nvCxnSpPr>
          <p:spPr>
            <a:xfrm>
              <a:off x="1809925" y="4646400"/>
              <a:ext cx="461700" cy="0"/>
            </a:xfrm>
            <a:prstGeom prst="straightConnector1">
              <a:avLst/>
            </a:prstGeom>
            <a:noFill/>
            <a:ln w="9525" cap="flat" cmpd="sng">
              <a:solidFill>
                <a:schemeClr val="dk2"/>
              </a:solidFill>
              <a:prstDash val="solid"/>
              <a:round/>
              <a:headEnd type="none" w="sm" len="sm"/>
              <a:tailEnd type="triangle" w="med" len="med"/>
            </a:ln>
          </p:spPr>
        </p:cxnSp>
      </p:grpSp>
      <p:sp>
        <p:nvSpPr>
          <p:cNvPr id="206" name="Google Shape;206;p38"/>
          <p:cNvSpPr/>
          <p:nvPr/>
        </p:nvSpPr>
        <p:spPr>
          <a:xfrm>
            <a:off x="5866438" y="2331775"/>
            <a:ext cx="377100" cy="1457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8"/>
          <p:cNvSpPr/>
          <p:nvPr/>
        </p:nvSpPr>
        <p:spPr>
          <a:xfrm>
            <a:off x="6572475" y="1984375"/>
            <a:ext cx="1690200" cy="93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Women’s Literary Recognition</a:t>
            </a:r>
            <a:endParaRPr sz="1400" b="0" i="0" u="none" strike="noStrike" cap="none">
              <a:solidFill>
                <a:srgbClr val="000000"/>
              </a:solidFill>
              <a:latin typeface="Arial"/>
              <a:ea typeface="Arial"/>
              <a:cs typeface="Arial"/>
              <a:sym typeface="Arial"/>
            </a:endParaRPr>
          </a:p>
        </p:txBody>
      </p:sp>
      <p:cxnSp>
        <p:nvCxnSpPr>
          <p:cNvPr id="208" name="Google Shape;208;p38"/>
          <p:cNvCxnSpPr/>
          <p:nvPr/>
        </p:nvCxnSpPr>
        <p:spPr>
          <a:xfrm>
            <a:off x="7417575" y="2918875"/>
            <a:ext cx="0" cy="283200"/>
          </a:xfrm>
          <a:prstGeom prst="straightConnector1">
            <a:avLst/>
          </a:prstGeom>
          <a:noFill/>
          <a:ln w="9525" cap="flat" cmpd="sng">
            <a:solidFill>
              <a:schemeClr val="dk2"/>
            </a:solidFill>
            <a:prstDash val="solid"/>
            <a:round/>
            <a:headEnd type="none" w="sm" len="sm"/>
            <a:tailEnd type="triangle" w="med" len="med"/>
          </a:ln>
        </p:spPr>
      </p:cxnSp>
      <p:sp>
        <p:nvSpPr>
          <p:cNvPr id="209" name="Google Shape;209;p38"/>
          <p:cNvSpPr/>
          <p:nvPr/>
        </p:nvSpPr>
        <p:spPr>
          <a:xfrm>
            <a:off x="6572475" y="3202075"/>
            <a:ext cx="1690200" cy="934500"/>
          </a:xfrm>
          <a:prstGeom prst="roundRect">
            <a:avLst>
              <a:gd name="adj" fmla="val 16667"/>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Have Individual Collections or Not</a:t>
            </a:r>
            <a:endParaRPr sz="1100" b="0" i="0" u="none" strike="noStrike" cap="none">
              <a:solidFill>
                <a:srgbClr val="000000"/>
              </a:solidFill>
              <a:latin typeface="Arial"/>
              <a:ea typeface="Arial"/>
              <a:cs typeface="Arial"/>
              <a:sym typeface="Arial"/>
            </a:endParaRPr>
          </a:p>
        </p:txBody>
      </p:sp>
      <p:sp>
        <p:nvSpPr>
          <p:cNvPr id="210" name="Google Shape;210;p38"/>
          <p:cNvSpPr/>
          <p:nvPr/>
        </p:nvSpPr>
        <p:spPr>
          <a:xfrm>
            <a:off x="398875" y="1148725"/>
            <a:ext cx="1131600" cy="1423025"/>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Social Capital</a:t>
            </a:r>
            <a:endParaRPr sz="1400" b="0" i="0" u="none" strike="noStrike" cap="none">
              <a:solidFill>
                <a:srgbClr val="000000"/>
              </a:solidFill>
              <a:latin typeface="Arial"/>
              <a:ea typeface="Arial"/>
              <a:cs typeface="Arial"/>
              <a:sym typeface="Arial"/>
            </a:endParaRPr>
          </a:p>
        </p:txBody>
      </p:sp>
      <p:sp>
        <p:nvSpPr>
          <p:cNvPr id="211" name="Google Shape;211;p38"/>
          <p:cNvSpPr/>
          <p:nvPr/>
        </p:nvSpPr>
        <p:spPr>
          <a:xfrm>
            <a:off x="398875" y="2743225"/>
            <a:ext cx="1131600" cy="222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Other Predictors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Women’s limited social capital in ancient China</a:t>
            </a:r>
            <a:endParaRPr/>
          </a:p>
        </p:txBody>
      </p:sp>
      <p:pic>
        <p:nvPicPr>
          <p:cNvPr id="217" name="Google Shape;217;p39"/>
          <p:cNvPicPr preferRelativeResize="0"/>
          <p:nvPr/>
        </p:nvPicPr>
        <p:blipFill rotWithShape="1">
          <a:blip r:embed="rId3">
            <a:alphaModFix/>
          </a:blip>
          <a:srcRect/>
          <a:stretch/>
        </p:blipFill>
        <p:spPr>
          <a:xfrm>
            <a:off x="5031925" y="1131575"/>
            <a:ext cx="3800375" cy="3842373"/>
          </a:xfrm>
          <a:prstGeom prst="rect">
            <a:avLst/>
          </a:prstGeom>
          <a:noFill/>
          <a:ln w="9525" cap="flat" cmpd="sng">
            <a:solidFill>
              <a:schemeClr val="dk2"/>
            </a:solidFill>
            <a:prstDash val="solid"/>
            <a:round/>
            <a:headEnd type="none" w="sm" len="sm"/>
            <a:tailEnd type="none" w="sm" len="sm"/>
          </a:ln>
        </p:spPr>
      </p:pic>
      <p:pic>
        <p:nvPicPr>
          <p:cNvPr id="218" name="Google Shape;218;p39"/>
          <p:cNvPicPr preferRelativeResize="0"/>
          <p:nvPr/>
        </p:nvPicPr>
        <p:blipFill rotWithShape="1">
          <a:blip r:embed="rId4">
            <a:alphaModFix/>
          </a:blip>
          <a:srcRect b="10362"/>
          <a:stretch/>
        </p:blipFill>
        <p:spPr>
          <a:xfrm>
            <a:off x="354575" y="1131575"/>
            <a:ext cx="4480323" cy="2192249"/>
          </a:xfrm>
          <a:prstGeom prst="rect">
            <a:avLst/>
          </a:prstGeom>
          <a:noFill/>
          <a:ln w="9525" cap="flat" cmpd="sng">
            <a:solidFill>
              <a:schemeClr val="dk2"/>
            </a:solidFill>
            <a:prstDash val="solid"/>
            <a:round/>
            <a:headEnd type="none" w="sm" len="sm"/>
            <a:tailEnd type="none" w="sm" len="sm"/>
          </a:ln>
        </p:spPr>
      </p:pic>
      <p:sp>
        <p:nvSpPr>
          <p:cNvPr id="219" name="Google Shape;219;p39"/>
          <p:cNvSpPr txBox="1"/>
          <p:nvPr/>
        </p:nvSpPr>
        <p:spPr>
          <a:xfrm>
            <a:off x="354575" y="3555725"/>
            <a:ext cx="4480200" cy="1418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700"/>
              <a:buFont typeface="Arial"/>
              <a:buNone/>
            </a:pPr>
            <a:r>
              <a:rPr lang="en" sz="1700" b="0" i="0" u="none" strike="noStrike" cap="none">
                <a:solidFill>
                  <a:srgbClr val="CC0000"/>
                </a:solidFill>
                <a:latin typeface="Arial"/>
                <a:ea typeface="Arial"/>
                <a:cs typeface="Arial"/>
                <a:sym typeface="Arial"/>
              </a:rPr>
              <a:t>Li Qingzhao</a:t>
            </a:r>
            <a:r>
              <a:rPr lang="en" sz="1700" b="0" i="0" u="none" strike="noStrike" cap="none">
                <a:solidFill>
                  <a:schemeClr val="dk2"/>
                </a:solidFill>
                <a:latin typeface="Arial"/>
                <a:ea typeface="Arial"/>
                <a:cs typeface="Arial"/>
                <a:sym typeface="Arial"/>
              </a:rPr>
              <a:t> had very limited social networks compared to her husband, </a:t>
            </a:r>
            <a:r>
              <a:rPr lang="en" sz="1700" b="0" i="0" u="none" strike="noStrike" cap="none">
                <a:solidFill>
                  <a:srgbClr val="1155CC"/>
                </a:solidFill>
                <a:latin typeface="Arial"/>
                <a:ea typeface="Arial"/>
                <a:cs typeface="Arial"/>
                <a:sym typeface="Arial"/>
              </a:rPr>
              <a:t>Zhao Mingcheng</a:t>
            </a:r>
            <a:r>
              <a:rPr lang="en" sz="1700" b="0" i="0" u="none" strike="noStrike" cap="none">
                <a:solidFill>
                  <a:schemeClr val="dk2"/>
                </a:solidFill>
                <a:latin typeface="Arial"/>
                <a:ea typeface="Arial"/>
                <a:cs typeface="Arial"/>
                <a:sym typeface="Arial"/>
              </a:rPr>
              <a:t>, even though she is much more famous today.</a:t>
            </a:r>
            <a:endParaRPr sz="1700" b="0" i="0" u="none" strike="noStrike" cap="non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Part II: Social Capital Measurement</a:t>
            </a:r>
            <a:endParaRPr/>
          </a:p>
        </p:txBody>
      </p:sp>
      <p:sp>
        <p:nvSpPr>
          <p:cNvPr id="225" name="Google Shape;225;p40"/>
          <p:cNvSpPr txBox="1">
            <a:spLocks noGrp="1"/>
          </p:cNvSpPr>
          <p:nvPr>
            <p:ph type="body" idx="1"/>
          </p:nvPr>
        </p:nvSpPr>
        <p:spPr>
          <a:xfrm>
            <a:off x="311700" y="1152475"/>
            <a:ext cx="3993300" cy="3416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marR="0" lvl="0" indent="0" algn="ctr" rtl="0">
              <a:lnSpc>
                <a:spcPct val="150000"/>
              </a:lnSpc>
              <a:spcBef>
                <a:spcPts val="0"/>
              </a:spcBef>
              <a:spcAft>
                <a:spcPts val="0"/>
              </a:spcAft>
              <a:buSzPts val="1800"/>
              <a:buNone/>
            </a:pPr>
            <a:r>
              <a:rPr lang="en" sz="2000" b="1"/>
              <a:t>Kinship</a:t>
            </a:r>
            <a:endParaRPr sz="2000" b="1"/>
          </a:p>
          <a:p>
            <a:pPr marL="457200" marR="0" lvl="0" indent="-342900" algn="l" rtl="0">
              <a:lnSpc>
                <a:spcPct val="150000"/>
              </a:lnSpc>
              <a:spcBef>
                <a:spcPts val="1200"/>
              </a:spcBef>
              <a:spcAft>
                <a:spcPts val="0"/>
              </a:spcAft>
              <a:buSzPts val="1800"/>
              <a:buChar char="-"/>
            </a:pPr>
            <a:r>
              <a:rPr lang="en"/>
              <a:t>Elders</a:t>
            </a:r>
            <a:endParaRPr/>
          </a:p>
          <a:p>
            <a:pPr marL="457200" marR="0" lvl="0" indent="-342900" algn="l" rtl="0">
              <a:lnSpc>
                <a:spcPct val="150000"/>
              </a:lnSpc>
              <a:spcBef>
                <a:spcPts val="0"/>
              </a:spcBef>
              <a:spcAft>
                <a:spcPts val="0"/>
              </a:spcAft>
              <a:buSzPts val="1800"/>
              <a:buChar char="-"/>
            </a:pPr>
            <a:r>
              <a:rPr lang="en"/>
              <a:t>Offspring</a:t>
            </a:r>
            <a:endParaRPr/>
          </a:p>
          <a:p>
            <a:pPr marL="457200" marR="0" lvl="0" indent="-342900" algn="l" rtl="0">
              <a:lnSpc>
                <a:spcPct val="150000"/>
              </a:lnSpc>
              <a:spcBef>
                <a:spcPts val="0"/>
              </a:spcBef>
              <a:spcAft>
                <a:spcPts val="0"/>
              </a:spcAft>
              <a:buSzPts val="1800"/>
              <a:buChar char="-"/>
            </a:pPr>
            <a:r>
              <a:rPr lang="en"/>
              <a:t>In-laws</a:t>
            </a:r>
            <a:endParaRPr/>
          </a:p>
          <a:p>
            <a:pPr marL="457200" marR="0" lvl="0" indent="-342900" algn="l" rtl="0">
              <a:lnSpc>
                <a:spcPct val="150000"/>
              </a:lnSpc>
              <a:spcBef>
                <a:spcPts val="0"/>
              </a:spcBef>
              <a:spcAft>
                <a:spcPts val="0"/>
              </a:spcAft>
              <a:buSzPts val="1800"/>
              <a:buChar char="-"/>
            </a:pPr>
            <a:r>
              <a:rPr lang="en"/>
              <a:t>Siblings</a:t>
            </a:r>
            <a:endParaRPr/>
          </a:p>
          <a:p>
            <a:pPr marL="457200" lvl="0" indent="-342900" algn="l" rtl="0">
              <a:lnSpc>
                <a:spcPct val="150000"/>
              </a:lnSpc>
              <a:spcBef>
                <a:spcPts val="0"/>
              </a:spcBef>
              <a:spcAft>
                <a:spcPts val="0"/>
              </a:spcAft>
              <a:buSzPts val="1800"/>
              <a:buChar char="-"/>
            </a:pPr>
            <a:r>
              <a:rPr lang="en"/>
              <a:t>(Immediate Relatives)</a:t>
            </a:r>
            <a:endParaRPr/>
          </a:p>
          <a:p>
            <a:pPr marL="0" marR="0" lvl="0" indent="0" algn="ctr" rtl="0">
              <a:lnSpc>
                <a:spcPct val="150000"/>
              </a:lnSpc>
              <a:spcBef>
                <a:spcPts val="1200"/>
              </a:spcBef>
              <a:spcAft>
                <a:spcPts val="1200"/>
              </a:spcAft>
              <a:buSzPts val="1800"/>
              <a:buNone/>
            </a:pPr>
            <a:endParaRPr sz="2000" b="1"/>
          </a:p>
        </p:txBody>
      </p:sp>
      <p:sp>
        <p:nvSpPr>
          <p:cNvPr id="226" name="Google Shape;226;p40"/>
          <p:cNvSpPr txBox="1">
            <a:spLocks noGrp="1"/>
          </p:cNvSpPr>
          <p:nvPr>
            <p:ph type="body" idx="1"/>
          </p:nvPr>
        </p:nvSpPr>
        <p:spPr>
          <a:xfrm>
            <a:off x="4839000" y="1152475"/>
            <a:ext cx="3993300" cy="34164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lnSpc>
                <a:spcPct val="150000"/>
              </a:lnSpc>
              <a:spcBef>
                <a:spcPts val="0"/>
              </a:spcBef>
              <a:spcAft>
                <a:spcPts val="0"/>
              </a:spcAft>
              <a:buSzPts val="1800"/>
              <a:buNone/>
            </a:pPr>
            <a:r>
              <a:rPr lang="en" sz="2000" b="1"/>
              <a:t>Social Relations</a:t>
            </a:r>
            <a:endParaRPr sz="2000" b="1"/>
          </a:p>
          <a:p>
            <a:pPr marL="457200" lvl="0" indent="-342900" algn="l" rtl="0">
              <a:lnSpc>
                <a:spcPct val="150000"/>
              </a:lnSpc>
              <a:spcBef>
                <a:spcPts val="1200"/>
              </a:spcBef>
              <a:spcAft>
                <a:spcPts val="0"/>
              </a:spcAft>
              <a:buSzPts val="1800"/>
              <a:buChar char="-"/>
            </a:pPr>
            <a:r>
              <a:rPr lang="en"/>
              <a:t>Academic Relations</a:t>
            </a:r>
            <a:endParaRPr/>
          </a:p>
          <a:p>
            <a:pPr marL="457200" lvl="0" indent="-342900" algn="l" rtl="0">
              <a:lnSpc>
                <a:spcPct val="150000"/>
              </a:lnSpc>
              <a:spcBef>
                <a:spcPts val="0"/>
              </a:spcBef>
              <a:spcAft>
                <a:spcPts val="0"/>
              </a:spcAft>
              <a:buSzPts val="1800"/>
              <a:buChar char="-"/>
            </a:pPr>
            <a:r>
              <a:rPr lang="en"/>
              <a:t>Political Ties</a:t>
            </a:r>
            <a:endParaRPr/>
          </a:p>
          <a:p>
            <a:pPr marL="457200" lvl="0" indent="-342900" algn="l" rtl="0">
              <a:lnSpc>
                <a:spcPct val="150000"/>
              </a:lnSpc>
              <a:spcBef>
                <a:spcPts val="0"/>
              </a:spcBef>
              <a:spcAft>
                <a:spcPts val="0"/>
              </a:spcAft>
              <a:buSzPts val="1800"/>
              <a:buChar char="-"/>
            </a:pPr>
            <a:r>
              <a:rPr lang="en"/>
              <a:t>Social Network</a:t>
            </a:r>
            <a:endParaRPr/>
          </a:p>
          <a:p>
            <a:pPr marL="457200" lvl="0" indent="-342900" algn="l" rtl="0">
              <a:lnSpc>
                <a:spcPct val="150000"/>
              </a:lnSpc>
              <a:spcBef>
                <a:spcPts val="0"/>
              </a:spcBef>
              <a:spcAft>
                <a:spcPts val="0"/>
              </a:spcAft>
              <a:buSzPts val="1800"/>
              <a:buChar char="-"/>
            </a:pPr>
            <a:r>
              <a:rPr lang="en"/>
              <a:t>Literary Work</a:t>
            </a:r>
            <a:endParaRPr/>
          </a:p>
          <a:p>
            <a:pPr marL="457200" lvl="0" indent="-342900" algn="l" rtl="0">
              <a:lnSpc>
                <a:spcPct val="150000"/>
              </a:lnSpc>
              <a:spcBef>
                <a:spcPts val="0"/>
              </a:spcBef>
              <a:spcAft>
                <a:spcPts val="0"/>
              </a:spcAft>
              <a:buSzPts val="1800"/>
              <a:buChar char="-"/>
            </a:pPr>
            <a:r>
              <a:rPr lang="en"/>
              <a:t>Artistic Exchange</a:t>
            </a:r>
            <a:endParaRPr/>
          </a:p>
          <a:p>
            <a:pPr marL="457200" lvl="0" indent="-342900" algn="l" rtl="0">
              <a:lnSpc>
                <a:spcPct val="150000"/>
              </a:lnSpc>
              <a:spcBef>
                <a:spcPts val="0"/>
              </a:spcBef>
              <a:spcAft>
                <a:spcPts val="0"/>
              </a:spcAft>
              <a:buSzPts val="1800"/>
              <a:buChar char="-"/>
            </a:pPr>
            <a:r>
              <a:rPr lang="en"/>
              <a:t>··· ··· (10 types)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Social Capital </a:t>
            </a:r>
            <a:endParaRPr/>
          </a:p>
        </p:txBody>
      </p:sp>
      <p:pic>
        <p:nvPicPr>
          <p:cNvPr id="232" name="Google Shape;232;p41"/>
          <p:cNvPicPr preferRelativeResize="0"/>
          <p:nvPr/>
        </p:nvPicPr>
        <p:blipFill rotWithShape="1">
          <a:blip r:embed="rId3">
            <a:alphaModFix/>
          </a:blip>
          <a:srcRect/>
          <a:stretch/>
        </p:blipFill>
        <p:spPr>
          <a:xfrm>
            <a:off x="311692" y="1147667"/>
            <a:ext cx="3845987" cy="2023701"/>
          </a:xfrm>
          <a:prstGeom prst="rect">
            <a:avLst/>
          </a:prstGeom>
          <a:noFill/>
          <a:ln w="9525" cap="flat" cmpd="sng">
            <a:solidFill>
              <a:schemeClr val="dk2"/>
            </a:solidFill>
            <a:prstDash val="solid"/>
            <a:round/>
            <a:headEnd type="none" w="sm" len="sm"/>
            <a:tailEnd type="none" w="sm" len="sm"/>
          </a:ln>
        </p:spPr>
      </p:pic>
      <p:pic>
        <p:nvPicPr>
          <p:cNvPr id="233" name="Google Shape;233;p41"/>
          <p:cNvPicPr preferRelativeResize="0"/>
          <p:nvPr/>
        </p:nvPicPr>
        <p:blipFill rotWithShape="1">
          <a:blip r:embed="rId4">
            <a:alphaModFix/>
          </a:blip>
          <a:srcRect/>
          <a:stretch/>
        </p:blipFill>
        <p:spPr>
          <a:xfrm>
            <a:off x="4346135" y="1147675"/>
            <a:ext cx="4562366" cy="3477451"/>
          </a:xfrm>
          <a:prstGeom prst="rect">
            <a:avLst/>
          </a:prstGeom>
          <a:noFill/>
          <a:ln w="9525" cap="flat" cmpd="sng">
            <a:solidFill>
              <a:schemeClr val="dk2"/>
            </a:solidFill>
            <a:prstDash val="solid"/>
            <a:round/>
            <a:headEnd type="none" w="sm" len="sm"/>
            <a:tailEnd type="none" w="sm" len="sm"/>
          </a:ln>
        </p:spPr>
      </p:pic>
      <p:sp>
        <p:nvSpPr>
          <p:cNvPr id="234" name="Google Shape;234;p41"/>
          <p:cNvSpPr txBox="1"/>
          <p:nvPr/>
        </p:nvSpPr>
        <p:spPr>
          <a:xfrm>
            <a:off x="311700" y="3406225"/>
            <a:ext cx="3846000" cy="1218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chemeClr val="dk1"/>
                </a:solidFill>
                <a:latin typeface="Arial"/>
                <a:ea typeface="Arial"/>
                <a:cs typeface="Arial"/>
                <a:sym typeface="Arial"/>
              </a:rPr>
              <a:t>The connections in </a:t>
            </a:r>
            <a:r>
              <a:rPr lang="en" sz="1200">
                <a:solidFill>
                  <a:schemeClr val="dk1"/>
                </a:solidFill>
              </a:rPr>
              <a:t>kinship</a:t>
            </a:r>
            <a:r>
              <a:rPr lang="en" sz="1200" b="0" i="0" u="none" strike="noStrike" cap="none">
                <a:solidFill>
                  <a:schemeClr val="dk1"/>
                </a:solidFill>
                <a:latin typeface="Arial"/>
                <a:ea typeface="Arial"/>
                <a:cs typeface="Arial"/>
                <a:sym typeface="Arial"/>
              </a:rPr>
              <a:t> relations are significantly richer than those in </a:t>
            </a:r>
            <a:r>
              <a:rPr lang="en" sz="1200">
                <a:solidFill>
                  <a:schemeClr val="dk1"/>
                </a:solidFill>
              </a:rPr>
              <a:t>social networks</a:t>
            </a:r>
            <a:r>
              <a:rPr lang="en" sz="1200" b="0" i="0" u="none" strike="noStrike" cap="none">
                <a:solidFill>
                  <a:schemeClr val="dk1"/>
                </a:solidFill>
                <a:latin typeface="Arial"/>
                <a:ea typeface="Arial"/>
                <a:cs typeface="Arial"/>
                <a:sym typeface="Arial"/>
              </a:rPr>
              <a:t>.</a:t>
            </a:r>
            <a:endParaRPr sz="12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chemeClr val="dk1"/>
                </a:solidFill>
                <a:latin typeface="Arial"/>
                <a:ea typeface="Arial"/>
                <a:cs typeface="Arial"/>
                <a:sym typeface="Arial"/>
              </a:rPr>
              <a:t>Women who have individual collections have higher mean connection values.</a:t>
            </a:r>
            <a:endParaRPr sz="1200" b="0" i="0" u="none" strike="noStrike" cap="none">
              <a:solidFill>
                <a:schemeClr val="dk1"/>
              </a:solidFill>
              <a:latin typeface="Arial"/>
              <a:ea typeface="Arial"/>
              <a:cs typeface="Arial"/>
              <a:sym typeface="Arial"/>
            </a:endParaRPr>
          </a:p>
        </p:txBody>
      </p:sp>
      <p:pic>
        <p:nvPicPr>
          <p:cNvPr id="235" name="Google Shape;235;p41" descr="A green line in a black background&#10;&#10;AI-generated content may be incorrect."/>
          <p:cNvPicPr preferRelativeResize="0"/>
          <p:nvPr/>
        </p:nvPicPr>
        <p:blipFill rotWithShape="1">
          <a:blip r:embed="rId5">
            <a:alphaModFix/>
          </a:blip>
          <a:srcRect/>
          <a:stretch/>
        </p:blipFill>
        <p:spPr>
          <a:xfrm>
            <a:off x="385010" y="1341787"/>
            <a:ext cx="1781455" cy="1781455"/>
          </a:xfrm>
          <a:prstGeom prst="rect">
            <a:avLst/>
          </a:prstGeom>
          <a:noFill/>
          <a:ln>
            <a:noFill/>
          </a:ln>
        </p:spPr>
      </p:pic>
      <p:pic>
        <p:nvPicPr>
          <p:cNvPr id="236" name="Google Shape;236;p41" descr="A line of yellow dots on a black background&#10;&#10;AI-generated content may be incorrect."/>
          <p:cNvPicPr preferRelativeResize="0"/>
          <p:nvPr/>
        </p:nvPicPr>
        <p:blipFill rotWithShape="1">
          <a:blip r:embed="rId6">
            <a:alphaModFix/>
          </a:blip>
          <a:srcRect/>
          <a:stretch/>
        </p:blipFill>
        <p:spPr>
          <a:xfrm>
            <a:off x="2354900" y="1341787"/>
            <a:ext cx="1781455" cy="17814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Control Variables: Location</a:t>
            </a:r>
            <a:endParaRPr/>
          </a:p>
        </p:txBody>
      </p:sp>
      <p:pic>
        <p:nvPicPr>
          <p:cNvPr id="242" name="Google Shape;242;p42"/>
          <p:cNvPicPr preferRelativeResize="0"/>
          <p:nvPr/>
        </p:nvPicPr>
        <p:blipFill rotWithShape="1">
          <a:blip r:embed="rId3">
            <a:alphaModFix/>
          </a:blip>
          <a:srcRect b="9321"/>
          <a:stretch/>
        </p:blipFill>
        <p:spPr>
          <a:xfrm>
            <a:off x="5018550" y="757326"/>
            <a:ext cx="3813752" cy="2045876"/>
          </a:xfrm>
          <a:prstGeom prst="rect">
            <a:avLst/>
          </a:prstGeom>
          <a:noFill/>
          <a:ln w="9525" cap="flat" cmpd="sng">
            <a:solidFill>
              <a:schemeClr val="dk2"/>
            </a:solidFill>
            <a:prstDash val="solid"/>
            <a:round/>
            <a:headEnd type="none" w="sm" len="sm"/>
            <a:tailEnd type="none" w="sm" len="sm"/>
          </a:ln>
        </p:spPr>
      </p:pic>
      <p:pic>
        <p:nvPicPr>
          <p:cNvPr id="243" name="Google Shape;243;p42"/>
          <p:cNvPicPr preferRelativeResize="0"/>
          <p:nvPr/>
        </p:nvPicPr>
        <p:blipFill rotWithShape="1">
          <a:blip r:embed="rId4">
            <a:alphaModFix/>
          </a:blip>
          <a:srcRect b="9147"/>
          <a:stretch/>
        </p:blipFill>
        <p:spPr>
          <a:xfrm>
            <a:off x="5018550" y="2953600"/>
            <a:ext cx="3813752" cy="1958425"/>
          </a:xfrm>
          <a:prstGeom prst="rect">
            <a:avLst/>
          </a:prstGeom>
          <a:noFill/>
          <a:ln w="9525" cap="flat" cmpd="sng">
            <a:solidFill>
              <a:schemeClr val="dk2"/>
            </a:solidFill>
            <a:prstDash val="solid"/>
            <a:round/>
            <a:headEnd type="none" w="sm" len="sm"/>
            <a:tailEnd type="none" w="sm" len="sm"/>
          </a:ln>
        </p:spPr>
      </p:pic>
      <p:sp>
        <p:nvSpPr>
          <p:cNvPr id="244" name="Google Shape;244;p42"/>
          <p:cNvSpPr txBox="1"/>
          <p:nvPr/>
        </p:nvSpPr>
        <p:spPr>
          <a:xfrm>
            <a:off x="311700" y="1279000"/>
            <a:ext cx="4205700" cy="1136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 sz="2200" b="0" i="0" u="none" strike="noStrike" cap="none">
                <a:solidFill>
                  <a:srgbClr val="595959"/>
                </a:solidFill>
                <a:latin typeface="Arial"/>
                <a:ea typeface="Arial"/>
                <a:cs typeface="Arial"/>
                <a:sym typeface="Arial"/>
              </a:rPr>
              <a:t>Administrative Provinces:</a:t>
            </a:r>
            <a:endParaRPr sz="2200" b="0" i="0" u="none" strike="noStrike" cap="none">
              <a:solidFill>
                <a:srgbClr val="595959"/>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700"/>
              <a:buFont typeface="Arial"/>
              <a:buNone/>
            </a:pPr>
            <a:r>
              <a:rPr lang="en" sz="1700" b="0" i="0" u="none" strike="noStrike" cap="none">
                <a:solidFill>
                  <a:srgbClr val="595959"/>
                </a:solidFill>
                <a:latin typeface="Arial"/>
                <a:ea typeface="Arial"/>
                <a:cs typeface="Arial"/>
                <a:sym typeface="Arial"/>
              </a:rPr>
              <a:t>the different structural mechanisms within those regions.</a:t>
            </a:r>
            <a:endParaRPr sz="1700" b="0" i="0" u="none" strike="noStrike" cap="none">
              <a:solidFill>
                <a:srgbClr val="595959"/>
              </a:solidFill>
              <a:latin typeface="Arial"/>
              <a:ea typeface="Arial"/>
              <a:cs typeface="Arial"/>
              <a:sym typeface="Arial"/>
            </a:endParaRPr>
          </a:p>
        </p:txBody>
      </p:sp>
      <p:sp>
        <p:nvSpPr>
          <p:cNvPr id="245" name="Google Shape;245;p42"/>
          <p:cNvSpPr txBox="1"/>
          <p:nvPr/>
        </p:nvSpPr>
        <p:spPr>
          <a:xfrm>
            <a:off x="311700" y="3321100"/>
            <a:ext cx="4205700" cy="1136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200"/>
              <a:buFont typeface="Arial"/>
              <a:buNone/>
            </a:pPr>
            <a:r>
              <a:rPr lang="en" sz="2200" b="0" i="0" u="none" strike="noStrike" cap="none">
                <a:solidFill>
                  <a:srgbClr val="595959"/>
                </a:solidFill>
                <a:latin typeface="Arial"/>
                <a:ea typeface="Arial"/>
                <a:cs typeface="Arial"/>
                <a:sym typeface="Arial"/>
              </a:rPr>
              <a:t>Local Education Level:</a:t>
            </a:r>
            <a:endParaRPr sz="2200" b="0" i="0" u="none" strike="noStrike" cap="none">
              <a:solidFill>
                <a:srgbClr val="595959"/>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700"/>
              <a:buFont typeface="Arial"/>
              <a:buNone/>
            </a:pPr>
            <a:r>
              <a:rPr lang="en" sz="1700" b="0" i="0" u="none" strike="noStrike" cap="none">
                <a:solidFill>
                  <a:srgbClr val="595959"/>
                </a:solidFill>
                <a:latin typeface="Arial"/>
                <a:ea typeface="Arial"/>
                <a:cs typeface="Arial"/>
                <a:sym typeface="Arial"/>
              </a:rPr>
              <a:t>approached by the number of Jinshi in that region.</a:t>
            </a:r>
            <a:endParaRPr sz="1700" b="0" i="0" u="none" strike="noStrike" cap="none">
              <a:solidFill>
                <a:srgbClr val="595959"/>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Control Variables: Period</a:t>
            </a:r>
            <a:endParaRPr/>
          </a:p>
        </p:txBody>
      </p:sp>
      <p:pic>
        <p:nvPicPr>
          <p:cNvPr id="251" name="Google Shape;251;p43"/>
          <p:cNvPicPr preferRelativeResize="0"/>
          <p:nvPr/>
        </p:nvPicPr>
        <p:blipFill rotWithShape="1">
          <a:blip r:embed="rId3">
            <a:alphaModFix/>
          </a:blip>
          <a:srcRect b="5221"/>
          <a:stretch/>
        </p:blipFill>
        <p:spPr>
          <a:xfrm>
            <a:off x="311700" y="1170125"/>
            <a:ext cx="4151659" cy="3144992"/>
          </a:xfrm>
          <a:prstGeom prst="rect">
            <a:avLst/>
          </a:prstGeom>
          <a:noFill/>
          <a:ln w="9525" cap="flat" cmpd="sng">
            <a:solidFill>
              <a:schemeClr val="dk2"/>
            </a:solidFill>
            <a:prstDash val="solid"/>
            <a:round/>
            <a:headEnd type="none" w="sm" len="sm"/>
            <a:tailEnd type="none" w="sm" len="sm"/>
          </a:ln>
        </p:spPr>
      </p:pic>
      <p:pic>
        <p:nvPicPr>
          <p:cNvPr id="252" name="Google Shape;252;p43"/>
          <p:cNvPicPr preferRelativeResize="0"/>
          <p:nvPr/>
        </p:nvPicPr>
        <p:blipFill rotWithShape="1">
          <a:blip r:embed="rId4">
            <a:alphaModFix/>
          </a:blip>
          <a:srcRect/>
          <a:stretch/>
        </p:blipFill>
        <p:spPr>
          <a:xfrm>
            <a:off x="4680653" y="1158850"/>
            <a:ext cx="4151647" cy="31675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Control Variables: Social Status</a:t>
            </a:r>
            <a:endParaRPr/>
          </a:p>
          <a:p>
            <a:pPr marL="0" lvl="0" indent="0" algn="l" rtl="0">
              <a:lnSpc>
                <a:spcPct val="100000"/>
              </a:lnSpc>
              <a:spcBef>
                <a:spcPts val="0"/>
              </a:spcBef>
              <a:spcAft>
                <a:spcPts val="0"/>
              </a:spcAft>
              <a:buClr>
                <a:schemeClr val="dk1"/>
              </a:buClr>
              <a:buSzPct val="39285"/>
              <a:buFont typeface="Arial"/>
              <a:buNone/>
            </a:pPr>
            <a:endParaRPr/>
          </a:p>
          <a:p>
            <a:pPr marL="0" lvl="0" indent="0" algn="l" rtl="0">
              <a:lnSpc>
                <a:spcPct val="100000"/>
              </a:lnSpc>
              <a:spcBef>
                <a:spcPts val="0"/>
              </a:spcBef>
              <a:spcAft>
                <a:spcPts val="0"/>
              </a:spcAft>
              <a:buSzPct val="111111"/>
              <a:buNone/>
            </a:pPr>
            <a:endParaRPr/>
          </a:p>
        </p:txBody>
      </p:sp>
      <p:pic>
        <p:nvPicPr>
          <p:cNvPr id="258" name="Google Shape;258;p44"/>
          <p:cNvPicPr preferRelativeResize="0"/>
          <p:nvPr/>
        </p:nvPicPr>
        <p:blipFill rotWithShape="1">
          <a:blip r:embed="rId3">
            <a:alphaModFix/>
          </a:blip>
          <a:srcRect/>
          <a:stretch/>
        </p:blipFill>
        <p:spPr>
          <a:xfrm>
            <a:off x="654813" y="1147775"/>
            <a:ext cx="7834374" cy="38209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Part II: Analysis Structure</a:t>
            </a:r>
            <a:endParaRPr/>
          </a:p>
        </p:txBody>
      </p:sp>
      <p:grpSp>
        <p:nvGrpSpPr>
          <p:cNvPr id="264" name="Google Shape;264;p45"/>
          <p:cNvGrpSpPr/>
          <p:nvPr/>
        </p:nvGrpSpPr>
        <p:grpSpPr>
          <a:xfrm>
            <a:off x="1807593" y="1148725"/>
            <a:ext cx="3781724" cy="3823500"/>
            <a:chOff x="333118" y="1140150"/>
            <a:chExt cx="3781724" cy="3823500"/>
          </a:xfrm>
        </p:grpSpPr>
        <p:sp>
          <p:nvSpPr>
            <p:cNvPr id="265" name="Google Shape;265;p45"/>
            <p:cNvSpPr/>
            <p:nvPr/>
          </p:nvSpPr>
          <p:spPr>
            <a:xfrm>
              <a:off x="333118" y="114015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Kinship</a:t>
              </a:r>
              <a:endParaRPr sz="1400" b="0" i="0" u="none" strike="noStrike" cap="none">
                <a:solidFill>
                  <a:srgbClr val="000000"/>
                </a:solidFill>
                <a:latin typeface="Arial"/>
                <a:ea typeface="Arial"/>
                <a:cs typeface="Arial"/>
                <a:sym typeface="Arial"/>
              </a:endParaRPr>
            </a:p>
          </p:txBody>
        </p:sp>
        <p:sp>
          <p:nvSpPr>
            <p:cNvPr id="266" name="Google Shape;266;p45"/>
            <p:cNvSpPr/>
            <p:nvPr/>
          </p:nvSpPr>
          <p:spPr>
            <a:xfrm>
              <a:off x="333118" y="193740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Social Relations</a:t>
              </a:r>
              <a:endParaRPr sz="1400" b="0" i="0" u="none" strike="noStrike" cap="none">
                <a:solidFill>
                  <a:srgbClr val="000000"/>
                </a:solidFill>
                <a:latin typeface="Arial"/>
                <a:ea typeface="Arial"/>
                <a:cs typeface="Arial"/>
                <a:sym typeface="Arial"/>
              </a:endParaRPr>
            </a:p>
          </p:txBody>
        </p:sp>
        <p:sp>
          <p:nvSpPr>
            <p:cNvPr id="267" name="Google Shape;267;p45"/>
            <p:cNvSpPr/>
            <p:nvPr/>
          </p:nvSpPr>
          <p:spPr>
            <a:xfrm>
              <a:off x="333118" y="273465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Temporal</a:t>
              </a:r>
              <a:endParaRPr sz="1400" b="0" i="0" u="none" strike="noStrike" cap="none">
                <a:solidFill>
                  <a:srgbClr val="000000"/>
                </a:solidFill>
                <a:latin typeface="Arial"/>
                <a:ea typeface="Arial"/>
                <a:cs typeface="Arial"/>
                <a:sym typeface="Arial"/>
              </a:endParaRPr>
            </a:p>
          </p:txBody>
        </p:sp>
        <p:sp>
          <p:nvSpPr>
            <p:cNvPr id="268" name="Google Shape;268;p45"/>
            <p:cNvSpPr/>
            <p:nvPr/>
          </p:nvSpPr>
          <p:spPr>
            <a:xfrm>
              <a:off x="333118" y="353190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Spatial</a:t>
              </a:r>
              <a:endParaRPr sz="1400" b="0" i="0" u="none" strike="noStrike" cap="none">
                <a:solidFill>
                  <a:srgbClr val="000000"/>
                </a:solidFill>
                <a:latin typeface="Arial"/>
                <a:ea typeface="Arial"/>
                <a:cs typeface="Arial"/>
                <a:sym typeface="Arial"/>
              </a:endParaRPr>
            </a:p>
          </p:txBody>
        </p:sp>
        <p:sp>
          <p:nvSpPr>
            <p:cNvPr id="269" name="Google Shape;269;p45"/>
            <p:cNvSpPr/>
            <p:nvPr/>
          </p:nvSpPr>
          <p:spPr>
            <a:xfrm>
              <a:off x="333118" y="4329150"/>
              <a:ext cx="1476900" cy="634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Social Status</a:t>
              </a:r>
              <a:endParaRPr sz="1400" b="0" i="0" u="none" strike="noStrike" cap="none">
                <a:solidFill>
                  <a:srgbClr val="000000"/>
                </a:solidFill>
                <a:latin typeface="Arial"/>
                <a:ea typeface="Arial"/>
                <a:cs typeface="Arial"/>
                <a:sym typeface="Arial"/>
              </a:endParaRPr>
            </a:p>
          </p:txBody>
        </p:sp>
        <p:sp>
          <p:nvSpPr>
            <p:cNvPr id="270" name="Google Shape;270;p45"/>
            <p:cNvSpPr/>
            <p:nvPr/>
          </p:nvSpPr>
          <p:spPr>
            <a:xfrm>
              <a:off x="2271642" y="114015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Elders; Offspring;</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In-laws; Siblings</a:t>
              </a:r>
              <a:endParaRPr sz="900" b="0" i="0" u="none" strike="noStrike" cap="none">
                <a:solidFill>
                  <a:srgbClr val="000000"/>
                </a:solidFill>
                <a:latin typeface="Arial"/>
                <a:ea typeface="Arial"/>
                <a:cs typeface="Arial"/>
                <a:sym typeface="Arial"/>
              </a:endParaRPr>
            </a:p>
          </p:txBody>
        </p:sp>
        <p:sp>
          <p:nvSpPr>
            <p:cNvPr id="271" name="Google Shape;271;p45"/>
            <p:cNvSpPr/>
            <p:nvPr/>
          </p:nvSpPr>
          <p:spPr>
            <a:xfrm>
              <a:off x="2271638" y="193740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Academic relations;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Political ties;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Literary work;</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sp>
          <p:nvSpPr>
            <p:cNvPr id="272" name="Google Shape;272;p45"/>
            <p:cNvSpPr/>
            <p:nvPr/>
          </p:nvSpPr>
          <p:spPr>
            <a:xfrm>
              <a:off x="2271635" y="273465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 Historical period / dynasty</a:t>
              </a:r>
              <a:endParaRPr sz="900" b="0" i="0" u="none" strike="noStrike" cap="none">
                <a:solidFill>
                  <a:srgbClr val="000000"/>
                </a:solidFill>
                <a:latin typeface="Arial"/>
                <a:ea typeface="Arial"/>
                <a:cs typeface="Arial"/>
                <a:sym typeface="Arial"/>
              </a:endParaRPr>
            </a:p>
          </p:txBody>
        </p:sp>
        <p:sp>
          <p:nvSpPr>
            <p:cNvPr id="273" name="Google Shape;273;p45"/>
            <p:cNvSpPr/>
            <p:nvPr/>
          </p:nvSpPr>
          <p:spPr>
            <a:xfrm>
              <a:off x="2271631" y="353190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Administrative divisions;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Regional educational development level</a:t>
              </a:r>
              <a:endParaRPr sz="900" b="0" i="0" u="none" strike="noStrike" cap="none">
                <a:solidFill>
                  <a:srgbClr val="000000"/>
                </a:solidFill>
                <a:latin typeface="Arial"/>
                <a:ea typeface="Arial"/>
                <a:cs typeface="Arial"/>
                <a:sym typeface="Arial"/>
              </a:endParaRPr>
            </a:p>
          </p:txBody>
        </p:sp>
        <p:sp>
          <p:nvSpPr>
            <p:cNvPr id="274" name="Google Shape;274;p45"/>
            <p:cNvSpPr/>
            <p:nvPr/>
          </p:nvSpPr>
          <p:spPr>
            <a:xfrm>
              <a:off x="2271628" y="4329150"/>
              <a:ext cx="1843200" cy="6345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Resource in kinship:</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Official positions;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Social reputation;</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000000"/>
                  </a:solidFill>
                  <a:latin typeface="Arial"/>
                  <a:ea typeface="Arial"/>
                  <a:cs typeface="Arial"/>
                  <a:sym typeface="Arial"/>
                </a:rPr>
                <a:t>··· ···</a:t>
              </a:r>
              <a:endParaRPr sz="900" b="0" i="0" u="none" strike="noStrike" cap="none">
                <a:solidFill>
                  <a:srgbClr val="000000"/>
                </a:solidFill>
                <a:latin typeface="Arial"/>
                <a:ea typeface="Arial"/>
                <a:cs typeface="Arial"/>
                <a:sym typeface="Arial"/>
              </a:endParaRPr>
            </a:p>
          </p:txBody>
        </p:sp>
        <p:cxnSp>
          <p:nvCxnSpPr>
            <p:cNvPr id="275" name="Google Shape;275;p45"/>
            <p:cNvCxnSpPr/>
            <p:nvPr/>
          </p:nvCxnSpPr>
          <p:spPr>
            <a:xfrm>
              <a:off x="1809925" y="1457400"/>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76" name="Google Shape;276;p45"/>
            <p:cNvCxnSpPr/>
            <p:nvPr/>
          </p:nvCxnSpPr>
          <p:spPr>
            <a:xfrm>
              <a:off x="1809925" y="2254650"/>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77" name="Google Shape;277;p45"/>
            <p:cNvCxnSpPr/>
            <p:nvPr/>
          </p:nvCxnSpPr>
          <p:spPr>
            <a:xfrm>
              <a:off x="1809925" y="3090925"/>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78" name="Google Shape;278;p45"/>
            <p:cNvCxnSpPr/>
            <p:nvPr/>
          </p:nvCxnSpPr>
          <p:spPr>
            <a:xfrm>
              <a:off x="1809925" y="3849150"/>
              <a:ext cx="461700" cy="0"/>
            </a:xfrm>
            <a:prstGeom prst="straightConnector1">
              <a:avLst/>
            </a:prstGeom>
            <a:noFill/>
            <a:ln w="9525" cap="flat" cmpd="sng">
              <a:solidFill>
                <a:schemeClr val="dk2"/>
              </a:solidFill>
              <a:prstDash val="solid"/>
              <a:round/>
              <a:headEnd type="none" w="sm" len="sm"/>
              <a:tailEnd type="triangle" w="med" len="med"/>
            </a:ln>
          </p:spPr>
        </p:cxnSp>
        <p:cxnSp>
          <p:nvCxnSpPr>
            <p:cNvPr id="279" name="Google Shape;279;p45"/>
            <p:cNvCxnSpPr/>
            <p:nvPr/>
          </p:nvCxnSpPr>
          <p:spPr>
            <a:xfrm>
              <a:off x="1809925" y="4646400"/>
              <a:ext cx="461700" cy="0"/>
            </a:xfrm>
            <a:prstGeom prst="straightConnector1">
              <a:avLst/>
            </a:prstGeom>
            <a:noFill/>
            <a:ln w="9525" cap="flat" cmpd="sng">
              <a:solidFill>
                <a:schemeClr val="dk2"/>
              </a:solidFill>
              <a:prstDash val="solid"/>
              <a:round/>
              <a:headEnd type="none" w="sm" len="sm"/>
              <a:tailEnd type="triangle" w="med" len="med"/>
            </a:ln>
          </p:spPr>
        </p:cxnSp>
      </p:grpSp>
      <p:sp>
        <p:nvSpPr>
          <p:cNvPr id="280" name="Google Shape;280;p45"/>
          <p:cNvSpPr/>
          <p:nvPr/>
        </p:nvSpPr>
        <p:spPr>
          <a:xfrm>
            <a:off x="5866438" y="2331775"/>
            <a:ext cx="377100" cy="1457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45"/>
          <p:cNvSpPr/>
          <p:nvPr/>
        </p:nvSpPr>
        <p:spPr>
          <a:xfrm>
            <a:off x="6572475" y="1984375"/>
            <a:ext cx="1690200" cy="93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Women’s Literature Recognition</a:t>
            </a:r>
            <a:endParaRPr sz="1400" b="0" i="0" u="none" strike="noStrike" cap="none">
              <a:solidFill>
                <a:srgbClr val="000000"/>
              </a:solidFill>
              <a:latin typeface="Arial"/>
              <a:ea typeface="Arial"/>
              <a:cs typeface="Arial"/>
              <a:sym typeface="Arial"/>
            </a:endParaRPr>
          </a:p>
        </p:txBody>
      </p:sp>
      <p:cxnSp>
        <p:nvCxnSpPr>
          <p:cNvPr id="282" name="Google Shape;282;p45"/>
          <p:cNvCxnSpPr/>
          <p:nvPr/>
        </p:nvCxnSpPr>
        <p:spPr>
          <a:xfrm>
            <a:off x="7417575" y="2918875"/>
            <a:ext cx="0" cy="283200"/>
          </a:xfrm>
          <a:prstGeom prst="straightConnector1">
            <a:avLst/>
          </a:prstGeom>
          <a:noFill/>
          <a:ln w="9525" cap="flat" cmpd="sng">
            <a:solidFill>
              <a:schemeClr val="dk2"/>
            </a:solidFill>
            <a:prstDash val="solid"/>
            <a:round/>
            <a:headEnd type="none" w="sm" len="sm"/>
            <a:tailEnd type="triangle" w="med" len="med"/>
          </a:ln>
        </p:spPr>
      </p:cxnSp>
      <p:sp>
        <p:nvSpPr>
          <p:cNvPr id="283" name="Google Shape;283;p45"/>
          <p:cNvSpPr/>
          <p:nvPr/>
        </p:nvSpPr>
        <p:spPr>
          <a:xfrm>
            <a:off x="6572475" y="3202075"/>
            <a:ext cx="1690200" cy="934500"/>
          </a:xfrm>
          <a:prstGeom prst="roundRect">
            <a:avLst>
              <a:gd name="adj" fmla="val 16667"/>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Have Individual Collections or Not</a:t>
            </a:r>
            <a:endParaRPr sz="1100" b="0" i="0" u="none" strike="noStrike" cap="none">
              <a:solidFill>
                <a:srgbClr val="000000"/>
              </a:solidFill>
              <a:latin typeface="Arial"/>
              <a:ea typeface="Arial"/>
              <a:cs typeface="Arial"/>
              <a:sym typeface="Arial"/>
            </a:endParaRPr>
          </a:p>
        </p:txBody>
      </p:sp>
      <p:sp>
        <p:nvSpPr>
          <p:cNvPr id="284" name="Google Shape;284;p45"/>
          <p:cNvSpPr/>
          <p:nvPr/>
        </p:nvSpPr>
        <p:spPr>
          <a:xfrm>
            <a:off x="1697350" y="1037275"/>
            <a:ext cx="4046100" cy="1611600"/>
          </a:xfrm>
          <a:prstGeom prst="rect">
            <a:avLst/>
          </a:prstGeom>
          <a:noFill/>
          <a:ln w="19050" cap="flat" cmpd="sng">
            <a:solidFill>
              <a:srgbClr val="980000"/>
            </a:solidFill>
            <a:prstDash val="dot"/>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5"/>
          <p:cNvSpPr/>
          <p:nvPr/>
        </p:nvSpPr>
        <p:spPr>
          <a:xfrm>
            <a:off x="398875" y="1037275"/>
            <a:ext cx="1131600" cy="16116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Social Capital</a:t>
            </a:r>
            <a:endParaRPr sz="1400" b="0" i="0" u="none" strike="noStrike" cap="none">
              <a:solidFill>
                <a:srgbClr val="000000"/>
              </a:solidFill>
              <a:latin typeface="Arial"/>
              <a:ea typeface="Arial"/>
              <a:cs typeface="Arial"/>
              <a:sym typeface="Arial"/>
            </a:endParaRPr>
          </a:p>
        </p:txBody>
      </p:sp>
      <p:sp>
        <p:nvSpPr>
          <p:cNvPr id="286" name="Google Shape;286;p45"/>
          <p:cNvSpPr/>
          <p:nvPr/>
        </p:nvSpPr>
        <p:spPr>
          <a:xfrm>
            <a:off x="398875" y="2767025"/>
            <a:ext cx="1131600" cy="2205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Other Predictors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1 Lasso Regression: Individual Effects Within Networks</a:t>
            </a:r>
            <a:endParaRPr/>
          </a:p>
        </p:txBody>
      </p:sp>
      <p:pic>
        <p:nvPicPr>
          <p:cNvPr id="292" name="Google Shape;292;p46"/>
          <p:cNvPicPr preferRelativeResize="0"/>
          <p:nvPr/>
        </p:nvPicPr>
        <p:blipFill rotWithShape="1">
          <a:blip r:embed="rId3">
            <a:alphaModFix/>
          </a:blip>
          <a:srcRect b="6558"/>
          <a:stretch/>
        </p:blipFill>
        <p:spPr>
          <a:xfrm>
            <a:off x="3902775" y="1127275"/>
            <a:ext cx="4929524" cy="3570451"/>
          </a:xfrm>
          <a:prstGeom prst="rect">
            <a:avLst/>
          </a:prstGeom>
          <a:noFill/>
          <a:ln w="9525" cap="flat" cmpd="sng">
            <a:solidFill>
              <a:schemeClr val="dk2"/>
            </a:solidFill>
            <a:prstDash val="solid"/>
            <a:round/>
            <a:headEnd type="none" w="sm" len="sm"/>
            <a:tailEnd type="none" w="sm" len="sm"/>
          </a:ln>
        </p:spPr>
      </p:pic>
      <p:sp>
        <p:nvSpPr>
          <p:cNvPr id="293" name="Google Shape;293;p46"/>
          <p:cNvSpPr txBox="1"/>
          <p:nvPr/>
        </p:nvSpPr>
        <p:spPr>
          <a:xfrm>
            <a:off x="311700" y="1127275"/>
            <a:ext cx="3000000" cy="3756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700">
                <a:solidFill>
                  <a:srgbClr val="595959"/>
                </a:solidFill>
                <a:latin typeface="Cambria"/>
                <a:ea typeface="Cambria"/>
                <a:cs typeface="Cambria"/>
                <a:sym typeface="Cambria"/>
              </a:rPr>
              <a:t>Many individuals in kinship and social relations have a positive impact.</a:t>
            </a:r>
            <a:endParaRPr sz="1700">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endParaRPr sz="1700">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r>
              <a:rPr lang="en" sz="1700">
                <a:solidFill>
                  <a:srgbClr val="595959"/>
                </a:solidFill>
                <a:latin typeface="Cambria"/>
                <a:ea typeface="Cambria"/>
                <a:cs typeface="Cambria"/>
                <a:sym typeface="Cambria"/>
              </a:rPr>
              <a:t>The mean coefficient for kinship is significantly larger than that of social relations.</a:t>
            </a:r>
            <a:endParaRPr sz="1700">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endParaRPr sz="1700">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r>
              <a:rPr lang="en" sz="1700">
                <a:solidFill>
                  <a:srgbClr val="595959"/>
                </a:solidFill>
                <a:latin typeface="Cambria"/>
                <a:ea typeface="Cambria"/>
                <a:cs typeface="Cambria"/>
                <a:sym typeface="Cambria"/>
              </a:rPr>
              <a:t>The coefficients for the spatial and temporal variables are greater than those for social relations.</a:t>
            </a:r>
            <a:endParaRPr sz="1700">
              <a:solidFill>
                <a:srgbClr val="595959"/>
              </a:solidFill>
              <a:latin typeface="Cambria"/>
              <a:ea typeface="Cambria"/>
              <a:cs typeface="Cambria"/>
              <a:sym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2 Lasso Regression: Centrality Effects in Networks</a:t>
            </a:r>
            <a:endParaRPr/>
          </a:p>
        </p:txBody>
      </p:sp>
      <p:sp>
        <p:nvSpPr>
          <p:cNvPr id="299" name="Google Shape;299;p47"/>
          <p:cNvSpPr txBox="1"/>
          <p:nvPr/>
        </p:nvSpPr>
        <p:spPr>
          <a:xfrm>
            <a:off x="311700" y="1127275"/>
            <a:ext cx="3000000" cy="3455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700" b="1">
                <a:solidFill>
                  <a:srgbClr val="595959"/>
                </a:solidFill>
                <a:latin typeface="Cambria"/>
                <a:ea typeface="Cambria"/>
                <a:cs typeface="Cambria"/>
                <a:sym typeface="Cambria"/>
              </a:rPr>
              <a:t>Kinship Degree (0.102)</a:t>
            </a:r>
            <a:endParaRPr sz="1700" b="1">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endParaRPr sz="1700" b="1">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r>
              <a:rPr lang="en" sz="1700" b="1">
                <a:solidFill>
                  <a:srgbClr val="595959"/>
                </a:solidFill>
                <a:latin typeface="Cambria"/>
                <a:ea typeface="Cambria"/>
                <a:cs typeface="Cambria"/>
                <a:sym typeface="Cambria"/>
              </a:rPr>
              <a:t>Social Degree (0.223)</a:t>
            </a:r>
            <a:endParaRPr sz="1700" b="1">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endParaRPr sz="1700">
              <a:solidFill>
                <a:srgbClr val="595959"/>
              </a:solidFill>
              <a:latin typeface="Cambria"/>
              <a:ea typeface="Cambria"/>
              <a:cs typeface="Cambria"/>
              <a:sym typeface="Cambria"/>
            </a:endParaRPr>
          </a:p>
          <a:p>
            <a:pPr marL="0" marR="0" lvl="0" indent="0" algn="l" rtl="0">
              <a:lnSpc>
                <a:spcPct val="115000"/>
              </a:lnSpc>
              <a:spcBef>
                <a:spcPts val="0"/>
              </a:spcBef>
              <a:spcAft>
                <a:spcPts val="0"/>
              </a:spcAft>
              <a:buClr>
                <a:srgbClr val="000000"/>
              </a:buClr>
              <a:buSzPts val="1600"/>
              <a:buFont typeface="Arial"/>
              <a:buNone/>
            </a:pPr>
            <a:r>
              <a:rPr lang="en" sz="1700">
                <a:solidFill>
                  <a:srgbClr val="595959"/>
                </a:solidFill>
                <a:latin typeface="Cambria"/>
                <a:ea typeface="Cambria"/>
                <a:cs typeface="Cambria"/>
                <a:sym typeface="Cambria"/>
              </a:rPr>
              <a:t>When considered as an aggregated indicator rather than simply calculating the mean of individual networks, the coefficient for social degree is higher than that of kinship. </a:t>
            </a:r>
            <a:endParaRPr>
              <a:latin typeface="Cambria"/>
              <a:ea typeface="Cambria"/>
              <a:cs typeface="Cambria"/>
              <a:sym typeface="Cambria"/>
            </a:endParaRPr>
          </a:p>
        </p:txBody>
      </p:sp>
      <p:pic>
        <p:nvPicPr>
          <p:cNvPr id="300" name="Google Shape;300;p47"/>
          <p:cNvPicPr preferRelativeResize="0"/>
          <p:nvPr/>
        </p:nvPicPr>
        <p:blipFill rotWithShape="1">
          <a:blip r:embed="rId3">
            <a:alphaModFix/>
          </a:blip>
          <a:srcRect/>
          <a:stretch/>
        </p:blipFill>
        <p:spPr>
          <a:xfrm>
            <a:off x="4005679" y="1127275"/>
            <a:ext cx="4826621" cy="3656248"/>
          </a:xfrm>
          <a:prstGeom prst="rect">
            <a:avLst/>
          </a:prstGeom>
          <a:noFill/>
          <a:ln w="9525" cap="flat" cmpd="sng">
            <a:solidFill>
              <a:schemeClr val="dk1"/>
            </a:solidFill>
            <a:prstDash val="solid"/>
            <a:round/>
            <a:headEnd type="none" w="sm" len="sm"/>
            <a:tailEnd type="none" w="sm" len="sm"/>
          </a:ln>
        </p:spPr>
      </p:pic>
      <p:sp>
        <p:nvSpPr>
          <p:cNvPr id="301" name="Google Shape;301;p47"/>
          <p:cNvSpPr/>
          <p:nvPr/>
        </p:nvSpPr>
        <p:spPr>
          <a:xfrm>
            <a:off x="4463375" y="2826800"/>
            <a:ext cx="1594200" cy="18492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Step 3 Double Lasso: Causal Effects in Networks</a:t>
            </a:r>
            <a:endParaRPr/>
          </a:p>
        </p:txBody>
      </p:sp>
      <p:sp>
        <p:nvSpPr>
          <p:cNvPr id="307" name="Google Shape;307;p48"/>
          <p:cNvSpPr txBox="1"/>
          <p:nvPr/>
        </p:nvSpPr>
        <p:spPr>
          <a:xfrm>
            <a:off x="311699" y="1127275"/>
            <a:ext cx="4572000" cy="28014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 sz="1700" b="1">
                <a:solidFill>
                  <a:srgbClr val="595959"/>
                </a:solidFill>
                <a:latin typeface="Cambria"/>
                <a:ea typeface="Cambria"/>
                <a:cs typeface="Cambria"/>
                <a:sym typeface="Cambria"/>
              </a:rPr>
              <a:t>Social degree effect: </a:t>
            </a:r>
            <a:endParaRPr sz="1700" b="1">
              <a:solidFill>
                <a:srgbClr val="595959"/>
              </a:solidFill>
              <a:latin typeface="Cambria"/>
              <a:ea typeface="Cambria"/>
              <a:cs typeface="Cambria"/>
              <a:sym typeface="Cambria"/>
            </a:endParaRPr>
          </a:p>
          <a:p>
            <a:pPr marL="0" marR="0" lvl="0" indent="0" algn="l" rtl="0">
              <a:lnSpc>
                <a:spcPct val="150000"/>
              </a:lnSpc>
              <a:spcBef>
                <a:spcPts val="0"/>
              </a:spcBef>
              <a:spcAft>
                <a:spcPts val="0"/>
              </a:spcAft>
              <a:buClr>
                <a:srgbClr val="000000"/>
              </a:buClr>
              <a:buSzPts val="1600"/>
              <a:buFont typeface="Arial"/>
              <a:buNone/>
            </a:pPr>
            <a:r>
              <a:rPr lang="en" sz="1700">
                <a:solidFill>
                  <a:srgbClr val="38761D"/>
                </a:solidFill>
                <a:latin typeface="Cambria"/>
                <a:ea typeface="Cambria"/>
                <a:cs typeface="Cambria"/>
                <a:sym typeface="Cambria"/>
              </a:rPr>
              <a:t>statistically significant</a:t>
            </a:r>
            <a:r>
              <a:rPr lang="en" sz="1700">
                <a:solidFill>
                  <a:srgbClr val="595959"/>
                </a:solidFill>
                <a:latin typeface="Cambria"/>
                <a:ea typeface="Cambria"/>
                <a:cs typeface="Cambria"/>
                <a:sym typeface="Cambria"/>
              </a:rPr>
              <a:t> with an estimated coefficient of 0.287 (95% CI: [0.086, 0.489]). </a:t>
            </a:r>
            <a:endParaRPr sz="1700">
              <a:solidFill>
                <a:srgbClr val="595959"/>
              </a:solidFill>
              <a:latin typeface="Cambria"/>
              <a:ea typeface="Cambria"/>
              <a:cs typeface="Cambria"/>
              <a:sym typeface="Cambria"/>
            </a:endParaRPr>
          </a:p>
          <a:p>
            <a:pPr marL="0" marR="0" lvl="0" indent="0" algn="l" rtl="0">
              <a:lnSpc>
                <a:spcPct val="150000"/>
              </a:lnSpc>
              <a:spcBef>
                <a:spcPts val="0"/>
              </a:spcBef>
              <a:spcAft>
                <a:spcPts val="0"/>
              </a:spcAft>
              <a:buClr>
                <a:srgbClr val="000000"/>
              </a:buClr>
              <a:buSzPts val="1600"/>
              <a:buFont typeface="Arial"/>
              <a:buNone/>
            </a:pPr>
            <a:endParaRPr sz="1700">
              <a:solidFill>
                <a:srgbClr val="595959"/>
              </a:solidFill>
              <a:latin typeface="Cambria"/>
              <a:ea typeface="Cambria"/>
              <a:cs typeface="Cambria"/>
              <a:sym typeface="Cambria"/>
            </a:endParaRPr>
          </a:p>
          <a:p>
            <a:pPr marL="0" marR="0" lvl="0" indent="0" algn="l" rtl="0">
              <a:lnSpc>
                <a:spcPct val="150000"/>
              </a:lnSpc>
              <a:spcBef>
                <a:spcPts val="0"/>
              </a:spcBef>
              <a:spcAft>
                <a:spcPts val="0"/>
              </a:spcAft>
              <a:buClr>
                <a:srgbClr val="000000"/>
              </a:buClr>
              <a:buSzPts val="1600"/>
              <a:buFont typeface="Arial"/>
              <a:buNone/>
            </a:pPr>
            <a:r>
              <a:rPr lang="en" sz="1700" b="1">
                <a:solidFill>
                  <a:srgbClr val="595959"/>
                </a:solidFill>
                <a:latin typeface="Cambria"/>
                <a:ea typeface="Cambria"/>
                <a:cs typeface="Cambria"/>
                <a:sym typeface="Cambria"/>
              </a:rPr>
              <a:t>Kinship degree effect: </a:t>
            </a:r>
            <a:endParaRPr sz="1700" b="1">
              <a:solidFill>
                <a:srgbClr val="595959"/>
              </a:solidFill>
              <a:latin typeface="Cambria"/>
              <a:ea typeface="Cambria"/>
              <a:cs typeface="Cambria"/>
              <a:sym typeface="Cambria"/>
            </a:endParaRPr>
          </a:p>
          <a:p>
            <a:pPr marL="0" marR="0" lvl="0" indent="0" algn="l" rtl="0">
              <a:lnSpc>
                <a:spcPct val="150000"/>
              </a:lnSpc>
              <a:spcBef>
                <a:spcPts val="0"/>
              </a:spcBef>
              <a:spcAft>
                <a:spcPts val="0"/>
              </a:spcAft>
              <a:buClr>
                <a:srgbClr val="000000"/>
              </a:buClr>
              <a:buSzPts val="1600"/>
              <a:buFont typeface="Arial"/>
              <a:buNone/>
            </a:pPr>
            <a:r>
              <a:rPr lang="en" sz="1700">
                <a:solidFill>
                  <a:srgbClr val="980000"/>
                </a:solidFill>
                <a:latin typeface="Cambria"/>
                <a:ea typeface="Cambria"/>
                <a:cs typeface="Cambria"/>
                <a:sym typeface="Cambria"/>
              </a:rPr>
              <a:t>statistically insignificant </a:t>
            </a:r>
            <a:r>
              <a:rPr lang="en" sz="1700">
                <a:solidFill>
                  <a:srgbClr val="595959"/>
                </a:solidFill>
                <a:latin typeface="Cambria"/>
                <a:ea typeface="Cambria"/>
                <a:cs typeface="Cambria"/>
                <a:sym typeface="Cambria"/>
              </a:rPr>
              <a:t>with an estimate of 0.092 (95% CI: [-0.096, 0.280]). </a:t>
            </a:r>
            <a:endParaRPr>
              <a:latin typeface="Cambria"/>
              <a:ea typeface="Cambria"/>
              <a:cs typeface="Cambria"/>
              <a:sym typeface="Cambria"/>
            </a:endParaRPr>
          </a:p>
        </p:txBody>
      </p:sp>
      <p:pic>
        <p:nvPicPr>
          <p:cNvPr id="308" name="Google Shape;308;p48"/>
          <p:cNvPicPr preferRelativeResize="0"/>
          <p:nvPr/>
        </p:nvPicPr>
        <p:blipFill rotWithShape="1">
          <a:blip r:embed="rId3">
            <a:alphaModFix/>
          </a:blip>
          <a:srcRect/>
          <a:stretch/>
        </p:blipFill>
        <p:spPr>
          <a:xfrm>
            <a:off x="5412568" y="1017725"/>
            <a:ext cx="3334424" cy="3896591"/>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Conclusion</a:t>
            </a:r>
            <a:endParaRPr/>
          </a:p>
        </p:txBody>
      </p:sp>
      <p:sp>
        <p:nvSpPr>
          <p:cNvPr id="314" name="Google Shape;314;p49"/>
          <p:cNvSpPr txBox="1">
            <a:spLocks noGrp="1"/>
          </p:cNvSpPr>
          <p:nvPr>
            <p:ph type="body" idx="1"/>
          </p:nvPr>
        </p:nvSpPr>
        <p:spPr>
          <a:xfrm>
            <a:off x="311700" y="1152475"/>
            <a:ext cx="8520600" cy="386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829"/>
              <a:t>Main Finding: </a:t>
            </a:r>
            <a:endParaRPr sz="1829"/>
          </a:p>
          <a:p>
            <a:pPr marL="0" lvl="0" indent="0" algn="l" rtl="0">
              <a:lnSpc>
                <a:spcPct val="115000"/>
              </a:lnSpc>
              <a:spcBef>
                <a:spcPts val="1200"/>
              </a:spcBef>
              <a:spcAft>
                <a:spcPts val="0"/>
              </a:spcAft>
              <a:buNone/>
            </a:pPr>
            <a:r>
              <a:rPr lang="en" sz="1829"/>
              <a:t>Social Connections Matter Most: The social relation network has a significantly positive effect on women's literary recognition, whereas the kinship network does not</a:t>
            </a:r>
            <a:endParaRPr sz="1829"/>
          </a:p>
          <a:p>
            <a:pPr marL="0" lvl="0" indent="0" algn="l" rtl="0">
              <a:lnSpc>
                <a:spcPct val="115000"/>
              </a:lnSpc>
              <a:spcBef>
                <a:spcPts val="1200"/>
              </a:spcBef>
              <a:spcAft>
                <a:spcPts val="0"/>
              </a:spcAft>
              <a:buSzPts val="935"/>
              <a:buNone/>
            </a:pPr>
            <a:endParaRPr sz="1729"/>
          </a:p>
          <a:p>
            <a:pPr marL="0" lvl="0" indent="0" algn="l" rtl="0">
              <a:lnSpc>
                <a:spcPct val="115000"/>
              </a:lnSpc>
              <a:spcBef>
                <a:spcPts val="1200"/>
              </a:spcBef>
              <a:spcAft>
                <a:spcPts val="0"/>
              </a:spcAft>
              <a:buSzPts val="935"/>
              <a:buNone/>
            </a:pPr>
            <a:r>
              <a:rPr lang="en" sz="1729"/>
              <a:t>What This Means: </a:t>
            </a:r>
            <a:endParaRPr sz="1729"/>
          </a:p>
          <a:p>
            <a:pPr marL="0" lvl="0" indent="0" algn="l" rtl="0">
              <a:lnSpc>
                <a:spcPct val="115000"/>
              </a:lnSpc>
              <a:spcBef>
                <a:spcPts val="1200"/>
              </a:spcBef>
              <a:spcAft>
                <a:spcPts val="1200"/>
              </a:spcAft>
              <a:buSzPts val="935"/>
              <a:buNone/>
            </a:pPr>
            <a:r>
              <a:rPr lang="en" sz="1729" b="1"/>
              <a:t>For women, building broader social connections was more crucial for success than relying on family ties.</a:t>
            </a:r>
            <a:endParaRPr sz="1729"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Afterword</a:t>
            </a:r>
            <a:endParaRPr/>
          </a:p>
        </p:txBody>
      </p:sp>
      <p:sp>
        <p:nvSpPr>
          <p:cNvPr id="320" name="Google Shape;320;p50"/>
          <p:cNvSpPr txBox="1"/>
          <p:nvPr/>
        </p:nvSpPr>
        <p:spPr>
          <a:xfrm>
            <a:off x="311701" y="1152475"/>
            <a:ext cx="4805866" cy="38679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1200"/>
              </a:spcBef>
              <a:spcAft>
                <a:spcPts val="0"/>
              </a:spcAft>
              <a:buNone/>
            </a:pPr>
            <a:r>
              <a:rPr lang="en" dirty="0">
                <a:latin typeface="Cambria"/>
                <a:ea typeface="Cambria"/>
                <a:cs typeface="Cambria"/>
                <a:sym typeface="Cambria"/>
              </a:rPr>
              <a:t>Many women didn’t left behind their own names in the data; </a:t>
            </a:r>
            <a:endParaRPr dirty="0">
              <a:latin typeface="Cambria"/>
              <a:ea typeface="Cambria"/>
              <a:cs typeface="Cambria"/>
              <a:sym typeface="Cambria"/>
            </a:endParaRPr>
          </a:p>
          <a:p>
            <a:pPr marL="0" marR="0" lvl="0" indent="0" algn="l" rtl="0">
              <a:lnSpc>
                <a:spcPct val="130000"/>
              </a:lnSpc>
              <a:spcBef>
                <a:spcPts val="1200"/>
              </a:spcBef>
              <a:spcAft>
                <a:spcPts val="0"/>
              </a:spcAft>
              <a:buNone/>
            </a:pPr>
            <a:r>
              <a:rPr lang="en" dirty="0">
                <a:solidFill>
                  <a:srgbClr val="595959"/>
                </a:solidFill>
                <a:latin typeface="Cambria"/>
                <a:ea typeface="Cambria"/>
                <a:cs typeface="Cambria"/>
                <a:sym typeface="Cambria"/>
              </a:rPr>
              <a:t>they were recorded only as 'Zhou Shi </a:t>
            </a:r>
            <a:r>
              <a:rPr lang="en" dirty="0" err="1">
                <a:solidFill>
                  <a:srgbClr val="595959"/>
                </a:solidFill>
                <a:latin typeface="Cambria"/>
                <a:ea typeface="Cambria"/>
                <a:cs typeface="Cambria"/>
                <a:sym typeface="Cambria"/>
              </a:rPr>
              <a:t>周氏</a:t>
            </a:r>
            <a:r>
              <a:rPr lang="en" dirty="0">
                <a:solidFill>
                  <a:srgbClr val="595959"/>
                </a:solidFill>
                <a:latin typeface="Cambria"/>
                <a:ea typeface="Cambria"/>
                <a:cs typeface="Cambria"/>
                <a:sym typeface="Cambria"/>
              </a:rPr>
              <a:t> </a:t>
            </a:r>
            <a:r>
              <a:rPr lang="en" dirty="0">
                <a:solidFill>
                  <a:schemeClr val="dk2"/>
                </a:solidFill>
                <a:latin typeface="Cambria"/>
                <a:ea typeface="Cambria"/>
                <a:cs typeface="Cambria"/>
                <a:sym typeface="Cambria"/>
              </a:rPr>
              <a:t>(Mrs. Zhou)</a:t>
            </a:r>
            <a:r>
              <a:rPr lang="en" dirty="0">
                <a:solidFill>
                  <a:srgbClr val="595959"/>
                </a:solidFill>
                <a:latin typeface="Cambria"/>
                <a:ea typeface="Cambria"/>
                <a:cs typeface="Cambria"/>
                <a:sym typeface="Cambria"/>
              </a:rPr>
              <a:t>' or 'Li Shi </a:t>
            </a:r>
            <a:r>
              <a:rPr lang="en" dirty="0" err="1">
                <a:solidFill>
                  <a:srgbClr val="595959"/>
                </a:solidFill>
                <a:latin typeface="Cambria"/>
                <a:ea typeface="Cambria"/>
                <a:cs typeface="Cambria"/>
                <a:sym typeface="Cambria"/>
              </a:rPr>
              <a:t>李氏</a:t>
            </a:r>
            <a:r>
              <a:rPr lang="en" dirty="0">
                <a:solidFill>
                  <a:srgbClr val="595959"/>
                </a:solidFill>
                <a:latin typeface="Cambria"/>
                <a:ea typeface="Cambria"/>
                <a:cs typeface="Cambria"/>
                <a:sym typeface="Cambria"/>
              </a:rPr>
              <a:t> </a:t>
            </a:r>
            <a:r>
              <a:rPr lang="en" dirty="0">
                <a:solidFill>
                  <a:schemeClr val="dk2"/>
                </a:solidFill>
                <a:latin typeface="Cambria"/>
                <a:ea typeface="Cambria"/>
                <a:cs typeface="Cambria"/>
                <a:sym typeface="Cambria"/>
              </a:rPr>
              <a:t>(Mrs. Li)</a:t>
            </a:r>
            <a:r>
              <a:rPr lang="en" dirty="0">
                <a:solidFill>
                  <a:srgbClr val="595959"/>
                </a:solidFill>
                <a:latin typeface="Cambria"/>
                <a:ea typeface="Cambria"/>
                <a:cs typeface="Cambria"/>
                <a:sym typeface="Cambria"/>
              </a:rPr>
              <a:t>', which means 'one woman who married into the Zhou or Li family.</a:t>
            </a:r>
            <a:endParaRPr dirty="0">
              <a:solidFill>
                <a:srgbClr val="595959"/>
              </a:solidFill>
              <a:latin typeface="Cambria"/>
              <a:ea typeface="Cambria"/>
              <a:cs typeface="Cambria"/>
              <a:sym typeface="Cambria"/>
            </a:endParaRPr>
          </a:p>
          <a:p>
            <a:pPr marL="0" marR="0" lvl="0" indent="0" algn="l" rtl="0">
              <a:lnSpc>
                <a:spcPct val="130000"/>
              </a:lnSpc>
              <a:spcBef>
                <a:spcPts val="1200"/>
              </a:spcBef>
              <a:spcAft>
                <a:spcPts val="0"/>
              </a:spcAft>
              <a:buNone/>
            </a:pPr>
            <a:endParaRPr dirty="0">
              <a:latin typeface="Cambria"/>
              <a:ea typeface="Cambria"/>
              <a:cs typeface="Cambria"/>
              <a:sym typeface="Cambria"/>
            </a:endParaRPr>
          </a:p>
          <a:p>
            <a:pPr marL="0" marR="0" lvl="0" indent="0" algn="l" rtl="0">
              <a:lnSpc>
                <a:spcPct val="130000"/>
              </a:lnSpc>
              <a:spcBef>
                <a:spcPts val="1200"/>
              </a:spcBef>
              <a:spcAft>
                <a:spcPts val="0"/>
              </a:spcAft>
              <a:buNone/>
            </a:pPr>
            <a:r>
              <a:rPr lang="en" dirty="0">
                <a:latin typeface="Cambria"/>
                <a:ea typeface="Cambria"/>
                <a:cs typeface="Cambria"/>
                <a:sym typeface="Cambria"/>
              </a:rPr>
              <a:t>The evidence they left behind spans centuries;</a:t>
            </a:r>
          </a:p>
          <a:p>
            <a:pPr marL="0" marR="0" lvl="0" indent="0" algn="l" rtl="0">
              <a:lnSpc>
                <a:spcPct val="130000"/>
              </a:lnSpc>
              <a:spcBef>
                <a:spcPts val="1200"/>
              </a:spcBef>
              <a:spcAft>
                <a:spcPts val="0"/>
              </a:spcAft>
              <a:buNone/>
            </a:pPr>
            <a:r>
              <a:rPr lang="en" dirty="0">
                <a:solidFill>
                  <a:srgbClr val="595959"/>
                </a:solidFill>
                <a:latin typeface="Cambria"/>
                <a:sym typeface="Cambria"/>
              </a:rPr>
              <a:t>reminding us that a woman's worth must be created by herself and not defined by her family.</a:t>
            </a:r>
            <a:endParaRPr dirty="0">
              <a:solidFill>
                <a:srgbClr val="595959"/>
              </a:solidFill>
              <a:latin typeface="Cambria"/>
              <a:sym typeface="Cambria"/>
            </a:endParaRPr>
          </a:p>
          <a:p>
            <a:pPr marL="0" marR="0" lvl="0" indent="0" algn="l" rtl="0">
              <a:lnSpc>
                <a:spcPct val="130000"/>
              </a:lnSpc>
              <a:spcBef>
                <a:spcPts val="1200"/>
              </a:spcBef>
              <a:spcAft>
                <a:spcPts val="1200"/>
              </a:spcAft>
              <a:buNone/>
            </a:pPr>
            <a:endParaRPr dirty="0">
              <a:latin typeface="Cambria"/>
              <a:ea typeface="Cambria"/>
              <a:cs typeface="Cambria"/>
              <a:sym typeface="Cambria"/>
            </a:endParaRPr>
          </a:p>
        </p:txBody>
      </p:sp>
      <p:pic>
        <p:nvPicPr>
          <p:cNvPr id="1026" name="Picture 2">
            <a:extLst>
              <a:ext uri="{FF2B5EF4-FFF2-40B4-BE49-F238E27FC236}">
                <a16:creationId xmlns:a16="http://schemas.microsoft.com/office/drawing/2014/main" id="{5531971B-36C2-33EA-8DB4-0579E2311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0062" y="1148763"/>
            <a:ext cx="1386973" cy="28459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103EAB0-4515-5747-95DB-5FB109C57D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8871" y="1152475"/>
            <a:ext cx="1383460" cy="28459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326" name="Google Shape;326;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294322" algn="l" rtl="0">
              <a:lnSpc>
                <a:spcPct val="140000"/>
              </a:lnSpc>
              <a:spcBef>
                <a:spcPts val="0"/>
              </a:spcBef>
              <a:spcAft>
                <a:spcPts val="0"/>
              </a:spcAft>
              <a:buSzPts val="1035"/>
              <a:buChar char="❏"/>
            </a:pPr>
            <a:r>
              <a:rPr lang="en" sz="1035"/>
              <a:t>Bourdieu, P. (1986). The forms of capital. In J. Richardson (Ed.), Handbook of Theory and Research for the Sociology of Education (pp. 241-258). New York: Greenwood.</a:t>
            </a:r>
            <a:endParaRPr sz="1035"/>
          </a:p>
          <a:p>
            <a:pPr marL="457200" lvl="0" indent="-294322" algn="l" rtl="0">
              <a:lnSpc>
                <a:spcPct val="140000"/>
              </a:lnSpc>
              <a:spcBef>
                <a:spcPts val="0"/>
              </a:spcBef>
              <a:spcAft>
                <a:spcPts val="0"/>
              </a:spcAft>
              <a:buSzPts val="1035"/>
              <a:buChar char="❏"/>
            </a:pPr>
            <a:r>
              <a:rPr lang="en" sz="1035"/>
              <a:t>Coleman, J. S. (1988). Social capital in the creation of human capital. American Journal of Sociology, 94, S95-S120.</a:t>
            </a:r>
            <a:endParaRPr sz="1035"/>
          </a:p>
          <a:p>
            <a:pPr marL="457200" lvl="0" indent="-294322" algn="l" rtl="0">
              <a:lnSpc>
                <a:spcPct val="140000"/>
              </a:lnSpc>
              <a:spcBef>
                <a:spcPts val="0"/>
              </a:spcBef>
              <a:spcAft>
                <a:spcPts val="0"/>
              </a:spcAft>
              <a:buSzPts val="1035"/>
              <a:buChar char="❏"/>
            </a:pPr>
            <a:r>
              <a:rPr lang="en" sz="1035"/>
              <a:t>Granovetter, M. S. (1973). The Strength of Weak Ties. American Journal of Sociology, 78(6), 1360-1380.</a:t>
            </a:r>
            <a:endParaRPr sz="1035"/>
          </a:p>
          <a:p>
            <a:pPr marL="457200" lvl="0" indent="-294322" algn="l" rtl="0">
              <a:lnSpc>
                <a:spcPct val="150000"/>
              </a:lnSpc>
              <a:spcBef>
                <a:spcPts val="0"/>
              </a:spcBef>
              <a:spcAft>
                <a:spcPts val="0"/>
              </a:spcAft>
              <a:buSzPts val="1035"/>
              <a:buChar char="❏"/>
            </a:pPr>
            <a:r>
              <a:rPr lang="en" sz="1035"/>
              <a:t>Burt, R. S. (1992). Structural Holes: The Social Structure of Competition. Harvard University Press.</a:t>
            </a:r>
            <a:endParaRPr sz="1035"/>
          </a:p>
          <a:p>
            <a:pPr marL="457200" lvl="0" indent="-294322" algn="l" rtl="0">
              <a:lnSpc>
                <a:spcPct val="140000"/>
              </a:lnSpc>
              <a:spcBef>
                <a:spcPts val="0"/>
              </a:spcBef>
              <a:spcAft>
                <a:spcPts val="0"/>
              </a:spcAft>
              <a:buSzPts val="1035"/>
              <a:buChar char="❏"/>
            </a:pPr>
            <a:r>
              <a:rPr lang="en" sz="1035"/>
              <a:t>Lin, N. (2001). Social Capital: A Theory of Social Structure and Action. Cambridge University Press.</a:t>
            </a:r>
            <a:endParaRPr sz="1035"/>
          </a:p>
          <a:p>
            <a:pPr marL="457200" lvl="0" indent="-294322" algn="l" rtl="0">
              <a:lnSpc>
                <a:spcPct val="140000"/>
              </a:lnSpc>
              <a:spcBef>
                <a:spcPts val="0"/>
              </a:spcBef>
              <a:spcAft>
                <a:spcPts val="0"/>
              </a:spcAft>
              <a:buSzPts val="1035"/>
              <a:buChar char="❏"/>
            </a:pPr>
            <a:r>
              <a:rPr lang="en" sz="1035"/>
              <a:t>Bian, Y. (1997). Bringing Strong Ties Back In: Indirect Ties, Network Bridges, and Job Searches in China. American Sociological Review, 62(3), 366-385.</a:t>
            </a:r>
            <a:endParaRPr sz="1035"/>
          </a:p>
          <a:p>
            <a:pPr marL="457200" lvl="0" indent="-294322" algn="l" rtl="0">
              <a:lnSpc>
                <a:spcPct val="140000"/>
              </a:lnSpc>
              <a:spcBef>
                <a:spcPts val="0"/>
              </a:spcBef>
              <a:spcAft>
                <a:spcPts val="0"/>
              </a:spcAft>
              <a:buSzPts val="1035"/>
              <a:buChar char="❏"/>
            </a:pPr>
            <a:r>
              <a:rPr lang="en" sz="1035"/>
              <a:t>Campbell, C., &amp; Lee, J. Z. (2000). State views and local views of population: Linking and comparing genealogies and household registers in Liaoning, 1749-1909. History and Computing, 12(1), 51-76.</a:t>
            </a:r>
            <a:endParaRPr sz="1035"/>
          </a:p>
          <a:p>
            <a:pPr marL="457200" lvl="0" indent="-294322" algn="l" rtl="0">
              <a:lnSpc>
                <a:spcPct val="140000"/>
              </a:lnSpc>
              <a:spcBef>
                <a:spcPts val="0"/>
              </a:spcBef>
              <a:spcAft>
                <a:spcPts val="0"/>
              </a:spcAft>
              <a:buSzPts val="1035"/>
              <a:buChar char="❏"/>
            </a:pPr>
            <a:r>
              <a:rPr lang="en" sz="1035"/>
              <a:t>Zelin, M. (2005). The Merchants of Zigong: Industrial Entrepreneurship in Early Modern China. Columbia University Press.</a:t>
            </a:r>
            <a:endParaRPr sz="1035"/>
          </a:p>
          <a:p>
            <a:pPr marL="457200" lvl="0" indent="-294322" algn="l" rtl="0">
              <a:lnSpc>
                <a:spcPct val="140000"/>
              </a:lnSpc>
              <a:spcBef>
                <a:spcPts val="0"/>
              </a:spcBef>
              <a:spcAft>
                <a:spcPts val="0"/>
              </a:spcAft>
              <a:buSzPts val="1035"/>
              <a:buChar char="❏"/>
            </a:pPr>
            <a:r>
              <a:rPr lang="en" sz="1035"/>
              <a:t>Deng, Z., &amp; Treiman, D. J. (2008). The Impact of the Cultural Revolution on Trends in Educational Attainment in the People's Republic of China. American Journal of Sociology, 114(2), 391-428.</a:t>
            </a:r>
            <a:endParaRPr sz="1035"/>
          </a:p>
          <a:p>
            <a:pPr marL="457200" lvl="0" indent="-294322" algn="l" rtl="0">
              <a:lnSpc>
                <a:spcPct val="140000"/>
              </a:lnSpc>
              <a:spcBef>
                <a:spcPts val="0"/>
              </a:spcBef>
              <a:spcAft>
                <a:spcPts val="0"/>
              </a:spcAft>
              <a:buSzPts val="1035"/>
              <a:buChar char="❏"/>
            </a:pPr>
            <a:r>
              <a:rPr lang="en" sz="1035"/>
              <a:t>Wong, S. (2011). Kinship, Business and Elite Formation in Chinese History. Cambridge University Press.</a:t>
            </a:r>
            <a:endParaRPr sz="1035"/>
          </a:p>
          <a:p>
            <a:pPr marL="457200" lvl="0" indent="-294322" algn="l" rtl="0">
              <a:lnSpc>
                <a:spcPct val="140000"/>
              </a:lnSpc>
              <a:spcBef>
                <a:spcPts val="0"/>
              </a:spcBef>
              <a:spcAft>
                <a:spcPts val="0"/>
              </a:spcAft>
              <a:buSzPts val="1035"/>
              <a:buChar char="❏"/>
            </a:pPr>
            <a:r>
              <a:rPr lang="en" sz="1035"/>
              <a:t>Ko, D. (1994). Teachers of the Inner Chambers: Women and Culture in Seventeenth-Century China. Stanford University Press.</a:t>
            </a:r>
            <a:endParaRPr sz="1035"/>
          </a:p>
          <a:p>
            <a:pPr marL="457200" lvl="0" indent="-294322" algn="l" rtl="0">
              <a:lnSpc>
                <a:spcPct val="140000"/>
              </a:lnSpc>
              <a:spcBef>
                <a:spcPts val="0"/>
              </a:spcBef>
              <a:spcAft>
                <a:spcPts val="0"/>
              </a:spcAft>
              <a:buSzPts val="1035"/>
              <a:buChar char="❏"/>
            </a:pPr>
            <a:r>
              <a:rPr lang="en" sz="1035"/>
              <a:t>Mann, S. (1997). Precious Records: Women in China's Long Eighteenth Century. Stanford University Press.</a:t>
            </a:r>
            <a:endParaRPr sz="103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a:p>
            <a:pPr marL="0" lvl="0" indent="0" algn="l" rtl="0">
              <a:spcBef>
                <a:spcPts val="0"/>
              </a:spcBef>
              <a:spcAft>
                <a:spcPts val="0"/>
              </a:spcAft>
              <a:buNone/>
            </a:pPr>
            <a:endParaRPr/>
          </a:p>
        </p:txBody>
      </p:sp>
      <p:sp>
        <p:nvSpPr>
          <p:cNvPr id="332" name="Google Shape;332;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292100" algn="l" rtl="0">
              <a:lnSpc>
                <a:spcPct val="150000"/>
              </a:lnSpc>
              <a:spcBef>
                <a:spcPts val="0"/>
              </a:spcBef>
              <a:spcAft>
                <a:spcPts val="0"/>
              </a:spcAft>
              <a:buSzPts val="1000"/>
              <a:buChar char="❏"/>
            </a:pPr>
            <a:r>
              <a:rPr lang="en" sz="1000"/>
              <a:t>Wu, P. (2003). The Confucian's Progress: Autobiographical Writing in Traditional China. Princeton University Press.</a:t>
            </a:r>
            <a:endParaRPr sz="1000"/>
          </a:p>
          <a:p>
            <a:pPr marL="457200" lvl="0" indent="-292100" algn="l" rtl="0">
              <a:lnSpc>
                <a:spcPct val="150000"/>
              </a:lnSpc>
              <a:spcBef>
                <a:spcPts val="0"/>
              </a:spcBef>
              <a:spcAft>
                <a:spcPts val="0"/>
              </a:spcAft>
              <a:buSzPts val="1000"/>
              <a:buChar char="❏"/>
            </a:pPr>
            <a:r>
              <a:rPr lang="en" sz="1000"/>
              <a:t>Robertson, M. (1992). The Art of Letter-Writing: An Essay on the Handscrolls of Ming and Ch'ing Women. Late Imperial China, 13(1), 1-50.</a:t>
            </a:r>
            <a:endParaRPr sz="1000"/>
          </a:p>
          <a:p>
            <a:pPr marL="457200" lvl="0" indent="-292100" algn="l" rtl="0">
              <a:lnSpc>
                <a:spcPct val="150000"/>
              </a:lnSpc>
              <a:spcBef>
                <a:spcPts val="0"/>
              </a:spcBef>
              <a:spcAft>
                <a:spcPts val="0"/>
              </a:spcAft>
              <a:buSzPts val="1000"/>
              <a:buChar char="❏"/>
            </a:pPr>
            <a:r>
              <a:rPr lang="en" sz="1000"/>
              <a:t>Fong, G. S. (2004). Female Hands: Embroidery as a Knowledge Field in Women's Everyday Life in Late Imperial and Early Republican China. Late Imperial China, 25(1), 1-58.</a:t>
            </a:r>
            <a:endParaRPr sz="1000"/>
          </a:p>
          <a:p>
            <a:pPr marL="457200" lvl="0" indent="-292100" algn="l" rtl="0">
              <a:lnSpc>
                <a:spcPct val="150000"/>
              </a:lnSpc>
              <a:spcBef>
                <a:spcPts val="0"/>
              </a:spcBef>
              <a:spcAft>
                <a:spcPts val="0"/>
              </a:spcAft>
              <a:buSzPts val="1000"/>
              <a:buChar char="❏"/>
            </a:pPr>
            <a:r>
              <a:rPr lang="en" sz="1000"/>
              <a:t>Banerjee, A., Chandrasekhar, A. G., Duflo, E., &amp; Jackson, M. O. (2013). The Diffusion of Microfinance. Science, 341(6144), 1236498.</a:t>
            </a:r>
            <a:endParaRPr sz="1000"/>
          </a:p>
          <a:p>
            <a:pPr marL="457200" lvl="0" indent="-292100" algn="l" rtl="0">
              <a:lnSpc>
                <a:spcPct val="150000"/>
              </a:lnSpc>
              <a:spcBef>
                <a:spcPts val="0"/>
              </a:spcBef>
              <a:spcAft>
                <a:spcPts val="0"/>
              </a:spcAft>
              <a:buSzPts val="1000"/>
              <a:buChar char="❏"/>
            </a:pPr>
            <a:r>
              <a:rPr lang="en" sz="1000"/>
              <a:t>Belloni, A., Chernozhukov, V., &amp; Hansen, C. (2014). Inference on Treatment Effects after Selection among High-Dimensional Controls. Review of Economic Studies, 81(2), 608-650.</a:t>
            </a:r>
            <a:endParaRPr sz="1000"/>
          </a:p>
          <a:p>
            <a:pPr marL="457200" lvl="0" indent="-292100" algn="l" rtl="0">
              <a:lnSpc>
                <a:spcPct val="150000"/>
              </a:lnSpc>
              <a:spcBef>
                <a:spcPts val="0"/>
              </a:spcBef>
              <a:spcAft>
                <a:spcPts val="0"/>
              </a:spcAft>
              <a:buSzPts val="1000"/>
              <a:buChar char="❏"/>
            </a:pPr>
            <a:r>
              <a:rPr lang="en" sz="1000"/>
              <a:t>Chatterjee, A., &amp; Lahiri, S. N. (2011). Bootstrapping Lasso Estimators. Journal of the American Statistical Association, 106(494), 608-625.</a:t>
            </a:r>
            <a:endParaRPr sz="1000"/>
          </a:p>
          <a:p>
            <a:pPr marL="457200" lvl="0" indent="-292100" algn="l" rtl="0">
              <a:lnSpc>
                <a:spcPct val="150000"/>
              </a:lnSpc>
              <a:spcBef>
                <a:spcPts val="0"/>
              </a:spcBef>
              <a:spcAft>
                <a:spcPts val="0"/>
              </a:spcAft>
              <a:buSzPts val="1000"/>
              <a:buChar char="❏"/>
            </a:pPr>
            <a:r>
              <a:rPr lang="en" sz="1000"/>
              <a:t>Harvard University. (2024). China Biographical Database (CBDB).</a:t>
            </a:r>
            <a:endParaRPr sz="1000"/>
          </a:p>
          <a:p>
            <a:pPr marL="457200" lvl="0" indent="-292100" algn="l" rtl="0">
              <a:lnSpc>
                <a:spcPct val="150000"/>
              </a:lnSpc>
              <a:spcBef>
                <a:spcPts val="0"/>
              </a:spcBef>
              <a:spcAft>
                <a:spcPts val="0"/>
              </a:spcAft>
              <a:buSzPts val="1000"/>
              <a:buChar char="❏"/>
            </a:pPr>
            <a:r>
              <a:rPr lang="en" sz="1000"/>
              <a:t>Knight, K., &amp; Fu, W. (2000). Asymptotics for Lasso-Type Estimators. Annals of Statistics, 28(5), 1356-1378.</a:t>
            </a:r>
            <a:endParaRPr sz="1000"/>
          </a:p>
          <a:p>
            <a:pPr marL="457200" lvl="0" indent="-292100" algn="l" rtl="0">
              <a:lnSpc>
                <a:spcPct val="150000"/>
              </a:lnSpc>
              <a:spcBef>
                <a:spcPts val="0"/>
              </a:spcBef>
              <a:spcAft>
                <a:spcPts val="0"/>
              </a:spcAft>
              <a:buSzPts val="1000"/>
              <a:buChar char="❏"/>
            </a:pPr>
            <a:r>
              <a:rPr lang="en" sz="1000"/>
              <a:t>Liu, H., Xu, X., &amp; Li, J. J. (2020). A Bootstrap Lasso+ Partial Ridge Method to Construct Confidence Intervals for Parameters in High-Dimensional Sparse Linear Models. Statistica Sinica, 30(3), 1333-1355.</a:t>
            </a:r>
            <a:endParaRPr sz="1000"/>
          </a:p>
          <a:p>
            <a:pPr marL="457200" lvl="0" indent="-292100" algn="l" rtl="0">
              <a:lnSpc>
                <a:spcPct val="150000"/>
              </a:lnSpc>
              <a:spcBef>
                <a:spcPts val="0"/>
              </a:spcBef>
              <a:spcAft>
                <a:spcPts val="0"/>
              </a:spcAft>
              <a:buSzPts val="1000"/>
              <a:buChar char="❏"/>
            </a:pPr>
            <a:r>
              <a:rPr lang="en" sz="1000"/>
              <a:t>Mazanec, T. J. (2018). Networks of Exchange Poetry in Late Medieval China: Notes Toward a Dynamic History of Tang Literature. Journal of Chinese Literature and Culture, 5(2), 322-359.</a:t>
            </a:r>
            <a:endParaRPr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38" name="Google Shape;338;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rmAutofit/>
          </a:bodyPr>
          <a:lstStyle/>
          <a:p>
            <a:pPr marL="0" lvl="0" indent="0" algn="ctr" rtl="0">
              <a:lnSpc>
                <a:spcPct val="115000"/>
              </a:lnSpc>
              <a:spcBef>
                <a:spcPts val="0"/>
              </a:spcBef>
              <a:spcAft>
                <a:spcPts val="0"/>
              </a:spcAft>
              <a:buSzPts val="1800"/>
              <a:buNone/>
            </a:pPr>
            <a:r>
              <a:rPr lang="en" sz="3900">
                <a:latin typeface="Cambria"/>
                <a:ea typeface="Cambria"/>
                <a:cs typeface="Cambria"/>
                <a:sym typeface="Cambria"/>
              </a:rPr>
              <a:t>Thank you</a:t>
            </a:r>
            <a:endParaRPr sz="3900">
              <a:latin typeface="Cambria"/>
              <a:ea typeface="Cambria"/>
              <a:cs typeface="Cambria"/>
              <a:sym typeface="Cambria"/>
            </a:endParaRPr>
          </a:p>
          <a:p>
            <a:pPr marL="0" lvl="0" indent="0" algn="ctr" rtl="0">
              <a:lnSpc>
                <a:spcPct val="115000"/>
              </a:lnSpc>
              <a:spcBef>
                <a:spcPts val="1200"/>
              </a:spcBef>
              <a:spcAft>
                <a:spcPts val="1200"/>
              </a:spcAft>
              <a:buSzPts val="1800"/>
              <a:buNone/>
            </a:pPr>
            <a:r>
              <a:rPr lang="en" sz="3900">
                <a:latin typeface="Cambria"/>
                <a:ea typeface="Cambria"/>
                <a:cs typeface="Cambria"/>
                <a:sym typeface="Cambria"/>
              </a:rPr>
              <a:t>Q &amp; A</a:t>
            </a:r>
            <a:endParaRPr sz="3900">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4703</Words>
  <Application>Microsoft Macintosh PowerPoint</Application>
  <PresentationFormat>On-screen Show (16:9)</PresentationFormat>
  <Paragraphs>353</Paragraphs>
  <Slides>29</Slides>
  <Notes>29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Arial</vt:lpstr>
      <vt:lpstr>Cambria</vt:lpstr>
      <vt:lpstr>Times New Roman</vt:lpstr>
      <vt:lpstr>Simple Light</vt:lpstr>
      <vt:lpstr>Simple Light</vt:lpstr>
      <vt:lpstr>Managing Professional Risks  Through Networks</vt:lpstr>
      <vt:lpstr>Content</vt:lpstr>
      <vt:lpstr>Part I: Social Capital Theory</vt:lpstr>
      <vt:lpstr>Part I: Social Capital &amp; Personal Achievement</vt:lpstr>
      <vt:lpstr>Part I: Social Capital &amp; Personal Achievement</vt:lpstr>
      <vt:lpstr>Part I: Historical Chinese Family Networks</vt:lpstr>
      <vt:lpstr>Part I: Historical Chinese Family Networks</vt:lpstr>
      <vt:lpstr>Part I: Women's Networks in Historical China</vt:lpstr>
      <vt:lpstr>Part I: Women's Networks in Historical China</vt:lpstr>
      <vt:lpstr>Part I: Research Gaps</vt:lpstr>
      <vt:lpstr>Part II: Case Study</vt:lpstr>
      <vt:lpstr>Part II: Data Introduction</vt:lpstr>
      <vt:lpstr>Women Poets’ Literary Recognition</vt:lpstr>
      <vt:lpstr>Part II: Analysis Structure</vt:lpstr>
      <vt:lpstr>Women’s limited social capital in ancient China</vt:lpstr>
      <vt:lpstr>Part II: Social Capital Measurement</vt:lpstr>
      <vt:lpstr>Social Capital </vt:lpstr>
      <vt:lpstr>Control Variables: Location</vt:lpstr>
      <vt:lpstr>Control Variables: Period</vt:lpstr>
      <vt:lpstr>Control Variables: Social Status  </vt:lpstr>
      <vt:lpstr>Part II: Analysis Structure</vt:lpstr>
      <vt:lpstr>Step 1 Lasso Regression: Individual Effects Within Networks</vt:lpstr>
      <vt:lpstr>Step 2 Lasso Regression: Centrality Effects in Networks</vt:lpstr>
      <vt:lpstr>Step 3 Double Lasso: Causal Effects in Networks</vt:lpstr>
      <vt:lpstr>Conclusion</vt:lpstr>
      <vt:lpstr>Afterword</vt:lpstr>
      <vt:lpstr>References</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Windtle Liu</cp:lastModifiedBy>
  <cp:revision>1</cp:revision>
  <dcterms:modified xsi:type="dcterms:W3CDTF">2025-02-25T23:26:19Z</dcterms:modified>
</cp:coreProperties>
</file>